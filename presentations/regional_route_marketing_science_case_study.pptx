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3bf64195154a4d" /><Relationship Type="http://schemas.openxmlformats.org/officeDocument/2006/relationships/extended-properties" Target="/docProps/app.xml" Id="R68015cf7ffb34c22" /><Relationship Type="http://schemas.openxmlformats.org/officeDocument/2006/relationships/officeDocument" Target="/ppt/presentation.xml" Id="R5da739adbb034a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22aeff24c14193"/>
  </p:sldMasterIdLst>
  <p:notesMasterIdLst>
    <p:notesMasterId xmlns:r="http://schemas.openxmlformats.org/officeDocument/2006/relationships" r:id="R96a2f540f9714d50"/>
  </p:notesMasterIdLst>
  <p:sldIdLst>
    <p:sldId xmlns:r="http://schemas.openxmlformats.org/officeDocument/2006/relationships" id="256" r:id="Rcd42000924e14482"/>
    <p:sldId xmlns:r="http://schemas.openxmlformats.org/officeDocument/2006/relationships" id="257" r:id="R400c128e90474a23"/>
    <p:sldId xmlns:r="http://schemas.openxmlformats.org/officeDocument/2006/relationships" id="258" r:id="R012c95370b184045"/>
    <p:sldId xmlns:r="http://schemas.openxmlformats.org/officeDocument/2006/relationships" id="259" r:id="R3596d974f27a432c"/>
    <p:sldId xmlns:r="http://schemas.openxmlformats.org/officeDocument/2006/relationships" id="260" r:id="R5ede1c00d7df4590"/>
    <p:sldId xmlns:r="http://schemas.openxmlformats.org/officeDocument/2006/relationships" id="261" r:id="Rf4237c56b1a94e0a"/>
    <p:sldId xmlns:r="http://schemas.openxmlformats.org/officeDocument/2006/relationships" id="262" r:id="R082c08c0acca4dd2"/>
    <p:sldId xmlns:r="http://schemas.openxmlformats.org/officeDocument/2006/relationships" id="263" r:id="Rb056fb9fefb94c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49c63b5ac34c5d" /><Relationship Type="http://schemas.openxmlformats.org/officeDocument/2006/relationships/slideMaster" Target="/ppt/slideMasters/slideMaster1.xml" Id="Re622aeff24c14193" /><Relationship Type="http://schemas.openxmlformats.org/officeDocument/2006/relationships/notesMaster" Target="/ppt/notesMasters/notesMaster1.xml" Id="R96a2f540f9714d50" /><Relationship Type="http://schemas.openxmlformats.org/officeDocument/2006/relationships/presProps" Target="/ppt/presProps.xml" Id="Rd153bc6e018c4713" /><Relationship Type="http://schemas.openxmlformats.org/officeDocument/2006/relationships/tableStyles" Target="/ppt/tableStyles.xml" Id="R9cd2f7a57eda41fe" /><Relationship Type="http://schemas.openxmlformats.org/officeDocument/2006/relationships/slide" Target="/ppt/slides/slide1.xml" Id="Rcd42000924e14482" /><Relationship Type="http://schemas.openxmlformats.org/officeDocument/2006/relationships/slide" Target="/ppt/slides/slide2.xml" Id="R400c128e90474a23" /><Relationship Type="http://schemas.openxmlformats.org/officeDocument/2006/relationships/slide" Target="/ppt/slides/slide3.xml" Id="R012c95370b184045" /><Relationship Type="http://schemas.openxmlformats.org/officeDocument/2006/relationships/slide" Target="/ppt/slides/slide4.xml" Id="R3596d974f27a432c" /><Relationship Type="http://schemas.openxmlformats.org/officeDocument/2006/relationships/slide" Target="/ppt/slides/slide5.xml" Id="R5ede1c00d7df4590" /><Relationship Type="http://schemas.openxmlformats.org/officeDocument/2006/relationships/slide" Target="/ppt/slides/slide6.xml" Id="Rf4237c56b1a94e0a" /><Relationship Type="http://schemas.openxmlformats.org/officeDocument/2006/relationships/slide" Target="/ppt/slides/slide7.xml" Id="R082c08c0acca4dd2" /><Relationship Type="http://schemas.openxmlformats.org/officeDocument/2006/relationships/slide" Target="/ppt/slides/slide8.xml" Id="Rb056fb9fefb94c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33cc16e4b848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675152abec4a82" /><Relationship Type="http://schemas.openxmlformats.org/officeDocument/2006/relationships/notesMaster" Target="/ppt/notesMasters/notesMaster1.xml" Id="Rf4ac6d23399a45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af21c8dccd4a5b" /><Relationship Type="http://schemas.openxmlformats.org/officeDocument/2006/relationships/notesMaster" Target="/ppt/notesMasters/notesMaster1.xml" Id="R37c3bd89d6e945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1ba1988af84341" /><Relationship Type="http://schemas.openxmlformats.org/officeDocument/2006/relationships/notesMaster" Target="/ppt/notesMasters/notesMaster1.xml" Id="R62e24842bb6546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b9751ed3604d2f" /><Relationship Type="http://schemas.openxmlformats.org/officeDocument/2006/relationships/notesMaster" Target="/ppt/notesMasters/notesMaster1.xml" Id="R78a40a6e82434a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9dad0edf454a57" /><Relationship Type="http://schemas.openxmlformats.org/officeDocument/2006/relationships/notesMaster" Target="/ppt/notesMasters/notesMaster1.xml" Id="R4d732f59036f49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c24323780a4c1c" /><Relationship Type="http://schemas.openxmlformats.org/officeDocument/2006/relationships/notesMaster" Target="/ppt/notesMasters/notesMaster1.xml" Id="R40560bdbb42145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dfac9737d0446c" /><Relationship Type="http://schemas.openxmlformats.org/officeDocument/2006/relationships/notesMaster" Target="/ppt/notesMasters/notesMaster1.xml" Id="R4861033fc8ae49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1d06e542444087" /><Relationship Type="http://schemas.openxmlformats.org/officeDocument/2006/relationships/notesMaster" Target="/ppt/notesMasters/notesMaster1.xml" Id="R7fa9caeb441848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business decision: this is a route-support and validation system, not a pure channel attribution exercise.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reports/final_portfolio_case_study.md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frames the problem as an ambiguous business decision under incomplete data, with a need to connect analysis to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reports/final_portfolio_case_study.md</a:t>
            </a:r>
          </a:p>
          <a:p xmlns:a="http://schemas.openxmlformats.org/drawingml/2006/main">
            <a:r>
              <a:t>Project source: docs/03_data_strategy.md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core architecture. It keeps MMM from becoming the whole project and makes it one replaceable response module.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reports/final_portfolio_case_study.md</a:t>
            </a:r>
          </a:p>
          <a:p xmlns:a="http://schemas.openxmlformats.org/drawingml/2006/main">
            <a:r>
              <a:t>Project source: docs/02_project_plan.md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YKF_YVR: the model respects route status and business feasibility, not just a rank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data: data/processed/route_opportunity_score_v0.csv</a:t>
            </a:r>
          </a:p>
          <a:p xmlns:a="http://schemas.openxmlformats.org/drawingml/2006/main">
            <a:r>
              <a:t>Project source: reports/phase3_route_opportunity_memo.md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answers the user's sensitivity concern directly. The model helps budget direction, but exact channel ranking is fragile.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data: data/processed/marketing_sensitivity_summary_v0.csv</a:t>
            </a:r>
          </a:p>
          <a:p xmlns:a="http://schemas.openxmlformats.org/drawingml/2006/main">
            <a:r>
              <a:t>Project source: reports/phase4b_marketing_sensitivity_memo.md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key recommendation slide for a project walkthrough.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data: data/processed/budget_optimization_case_summary_v0.csv</a:t>
            </a:r>
          </a:p>
          <a:p xmlns:a="http://schemas.openxmlformats.org/drawingml/2006/main">
            <a:r>
              <a:t>Project data: data/processed/budget_optimization_allocations_v0.csv</a:t>
            </a:r>
          </a:p>
          <a:p xmlns:a="http://schemas.openxmlformats.org/drawingml/2006/main">
            <a:r>
              <a:t>Project source: reports/phase5_budget_optimization_memo.md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show the system closes the loop from recommendation to measurement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data: data/processed/experiment_design_plan_v0.csv</a:t>
            </a:r>
          </a:p>
          <a:p xmlns:a="http://schemas.openxmlformats.org/drawingml/2006/main">
            <a:r>
              <a:t>Project data: data/processed/experiment_control_matches_v0.csv</a:t>
            </a:r>
          </a:p>
          <a:p xmlns:a="http://schemas.openxmlformats.org/drawingml/2006/main">
            <a:r>
              <a:t>Project source: reports/phase6_experiment_design_memo.md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answers the Meridian question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Developers Meridian landing page: https://developers.google.com/meridian</a:t>
            </a:r>
          </a:p>
          <a:p xmlns:a="http://schemas.openxmlformats.org/drawingml/2006/main">
            <a:r>
              <a:t>Google Developers Meridian MMM docs: https://developers.google.com/meridian/mmm</a:t>
            </a:r>
          </a:p>
          <a:p xmlns:a="http://schemas.openxmlformats.org/drawingml/2006/main">
            <a:r>
              <a:t>GitHub google/meridian README: https://github.com/google/meridian</a:t>
            </a:r>
          </a:p>
          <a:p xmlns:a="http://schemas.openxmlformats.org/drawingml/2006/main">
            <a:r>
              <a:t>Project source: docs/18_meridian_vertex_positioning.md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ae074662cf42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dab4d13de2402b" /><Relationship Type="http://schemas.openxmlformats.org/officeDocument/2006/relationships/slideLayout" Target="/ppt/slideLayouts/slideLayout1.xml" Id="R78b25ded9d394e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b25ded9d394e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1b784c7934925" /><Relationship Type="http://schemas.openxmlformats.org/officeDocument/2006/relationships/notesSlide" Target="/ppt/notesSlides/notesSlide1.xml" Id="R2c73530f56da45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5f714c2074091" /><Relationship Type="http://schemas.openxmlformats.org/officeDocument/2006/relationships/notesSlide" Target="/ppt/notesSlides/notesSlide2.xml" Id="R6e0ccda2a7874d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32b8e4c7f40ab" /><Relationship Type="http://schemas.openxmlformats.org/officeDocument/2006/relationships/notesSlide" Target="/ppt/notesSlides/notesSlide3.xml" Id="R2ef6a5d6325a43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9f08508c14df8" /><Relationship Type="http://schemas.openxmlformats.org/officeDocument/2006/relationships/notesSlide" Target="/ppt/notesSlides/notesSlide4.xml" Id="Rbd150368624847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49d52bbff4bce" /><Relationship Type="http://schemas.openxmlformats.org/officeDocument/2006/relationships/chart" Target="/ppt/slides/charts/chart1.xml" Id="R70ab8fe9aca3436e" /><Relationship Type="http://schemas.openxmlformats.org/officeDocument/2006/relationships/notesSlide" Target="/ppt/notesSlides/notesSlide5.xml" Id="R43dc7f33a0994e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84c202d6d4ec5" /><Relationship Type="http://schemas.openxmlformats.org/officeDocument/2006/relationships/chart" Target="/ppt/slides/charts/chart2.xml" Id="Rb536fdf18b084ef2" /><Relationship Type="http://schemas.openxmlformats.org/officeDocument/2006/relationships/notesSlide" Target="/ppt/notesSlides/notesSlide6.xml" Id="R6f2efe25fcd442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a2a479f7146de" /><Relationship Type="http://schemas.openxmlformats.org/officeDocument/2006/relationships/notesSlide" Target="/ppt/notesSlides/notesSlide7.xml" Id="Rd2256d1de78b4d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11c0758c94267" /><Relationship Type="http://schemas.openxmlformats.org/officeDocument/2006/relationships/notesSlide" Target="/ppt/notesSlides/notesSlide8.xml" Id="R3b522aff7f6d4b3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Top-channel recovery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Controlled saturation</c:v>
              </c:pt>
              <c:pt idx="1">
                <c:v>Controlled adstock</c:v>
              </c:pt>
              <c:pt idx="2">
                <c:v>Naive raw spend</c:v>
              </c:pt>
            </c:strLit>
          </c:cat>
          <c:val>
            <c:numLit>
              <c:formatCode>0"%"</c:formatCode>
              <c:ptCount val="3"/>
              <c:pt idx="0">
                <c:v>58</c:v>
              </c:pt>
              <c:pt idx="1">
                <c:v>54</c:v>
              </c:pt>
              <c:pt idx="2">
                <c:v>8</c:v>
              </c:pt>
            </c:numLit>
          </c:val>
        </c:ser>
        <c:ser>
          <c:idx val="1"/>
          <c:order val="1"/>
          <c:tx>
            <c:v>Budget-efficiency ratio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3"/>
              <c:pt idx="0">
                <c:v>Controlled saturation</c:v>
              </c:pt>
              <c:pt idx="1">
                <c:v>Controlled adstock</c:v>
              </c:pt>
              <c:pt idx="2">
                <c:v>Naive raw spend</c:v>
              </c:pt>
            </c:strLit>
          </c:cat>
          <c:val>
            <c:numLit>
              <c:formatCode>0"%"</c:formatCode>
              <c:ptCount val="3"/>
              <c:pt idx="0">
                <c:v>93</c:v>
              </c:pt>
              <c:pt idx="1">
                <c:v>90</c:v>
              </c:pt>
              <c:pt idx="2">
                <c:v>82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66C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66C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F666C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Campaign budget (CAD K)</c:v>
          </c:tx>
          <c:spPr>
            <a:solidFill xmlns:a="http://schemas.openxmlformats.org/drawingml/2006/main">
              <a:srgbClr val="3D8D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8842B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cat>
            <c:strLit>
              <c:ptCount val="7"/>
              <c:pt idx="0">
                <c:v>YKF-YEG</c:v>
              </c:pt>
              <c:pt idx="1">
                <c:v>YKF-YYC</c:v>
              </c:pt>
              <c:pt idx="2">
                <c:v>YKF-YVR</c:v>
              </c:pt>
              <c:pt idx="3">
                <c:v>YXU-YYC</c:v>
              </c:pt>
              <c:pt idx="4">
                <c:v>YXX-YYC</c:v>
              </c:pt>
              <c:pt idx="5">
                <c:v>YXX-YEG</c:v>
              </c:pt>
              <c:pt idx="6">
                <c:v>YLW-YVR</c:v>
              </c:pt>
            </c:strLit>
          </c:cat>
          <c:val>
            <c:numLit>
              <c:formatCode>General</c:formatCode>
              <c:ptCount val="7"/>
              <c:pt idx="0">
                <c:v>100</c:v>
              </c:pt>
              <c:pt idx="1">
                <c:v>100</c:v>
              </c:pt>
              <c:pt idx="2">
                <c:v>75</c:v>
              </c:pt>
              <c:pt idx="3">
                <c:v>75</c:v>
              </c:pt>
              <c:pt idx="4">
                <c:v>75</c:v>
              </c:pt>
              <c:pt idx="5">
                <c:v>50</c:v>
              </c:pt>
              <c:pt idx="6">
                <c:v>25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66C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2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1CAA5-60F2-4FB5-9BA8-363B6456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F666C"/>
                </a:solidFill>
              </a:defRPr>
            </a:pPr>
            <a:r>
              <a:rPr sz="2400" b="0">
                <a:solidFill>
                  <a:srgbClr val="5F666C"/>
                </a:solidFill>
              </a:rPr>
              <a:t>Regional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14BB0-5ABF-4B2C-89AB-74540CCB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96202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0" b="0">
                <a:solidFill>
                  <a:srgbClr val="000000"/>
                </a:solidFill>
              </a:defRPr>
            </a:pPr>
            <a:r>
              <a:rPr sz="6000" b="0">
                <a:solidFill>
                  <a:srgbClr val="000000"/>
                </a:solidFill>
              </a:rPr>
              <a:t>Marketing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BEABC-4E76-46FF-B80B-D56156AC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Marketing measurement and route sustainability for Canadian regional air routes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85C6E-CA19-4EB5-8249-017F01EF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819CA-F212-4B1A-A344-4440CD88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6C"/>
                </a:solidFill>
              </a:defRPr>
            </a:pPr>
            <a:r>
              <a:rPr sz="1350" b="0">
                <a:solidFill>
                  <a:srgbClr val="5F666C"/>
                </a:solidFill>
              </a:rPr>
              <a:t>Portfolio case study | 2026</a:t>
            </a:r>
          </a:p>
        </p:txBody>
      </p:sp>
    </p:spTree>
    <p:extLst>
      <p:ext uri="{BB962C8B-B14F-4D97-AF65-F5344CB8AC3E}">
        <p14:creationId xmlns:p14="http://schemas.microsoft.com/office/powerpoint/2010/main" val="739040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CF7C27F-F467-4EED-8E08-3CBDF3D1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</a:defRPr>
            </a:pPr>
            <a:r>
              <a:rPr sz="2850" b="0">
                <a:solidFill>
                  <a:srgbClr val="000000"/>
                </a:solidFill>
              </a:rPr>
              <a:t>The decision is route portfolio support, not channel attribution</a:t>
            </a:r>
          </a:p>
        </p:txBody>
      </p:sp>
      <p:sp>
        <p:nvSpPr>
          <p:cNvPr id="2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62A230CC-02C0-408D-8E97-ADDA4988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6C"/>
                </a:solidFill>
              </a:defRPr>
            </a:pPr>
            <a:r>
              <a:rPr sz="1500" b="0">
                <a:solidFill>
                  <a:srgbClr val="5F666C"/>
                </a:solidFill>
              </a:rPr>
              <a:t>The model has to rank routes, allocate a fixed budget, and define how to validate before scaling.</a:t>
            </a:r>
          </a:p>
        </p:txBody>
      </p:sp>
      <p:sp>
        <p:nvSpPr>
          <p:cNvPr id="3" name="slide-2-footer">
            <a:extLst xmlns:a="http://schemas.openxmlformats.org/drawingml/2006/main">
              <a:ext uri="{FF2B5EF4-FFF2-40B4-BE49-F238E27FC236}">
                <a16:creationId xmlns:a16="http://schemas.microsoft.com/office/drawing/2014/main" id="{0E9AF743-58BE-463E-B97B-3DE06D9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69C81-EEFC-4A53-A733-CB728E94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51435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595A3-E85A-4304-903B-FC02F3B8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Decision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726B0-F800-4603-968B-4278D20F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Which regional air routes should receive incremental marketing investment, and how should a fixed budget be allocated to maximize sustainable demand?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53052-AEE3-4108-843A-CC66A727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43100"/>
            <a:ext cx="4953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F882F-8DB9-46BB-ABB3-A468BD6A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098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Operating constraints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3B917-D44D-4E11-A794-8E57F446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76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18DAE-EA42-4E7A-96C4-7C2A43E3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Route-level passengers and bookings are not publicly observed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D84E1F-2F6E-43EA-9959-EE786B48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33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5DAA4-FCC5-4FE5-BF58-45319158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Marketing spend is simulated, so response is scenario-based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96146-D263-4C13-BB35-C8ED3C78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0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A31002-9F3A-4B59-9781-F9FA9F87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957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Inactive routes need capacity checks before media scaling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D58FC5-58F0-4631-8C53-9A73D78A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48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675F8-ACEB-47D4-AE9E-988FD221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52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Recommendations must feed test design, not just rankings</a:t>
            </a:r>
          </a:p>
        </p:txBody>
      </p:sp>
    </p:spTree>
    <p:extLst>
      <p:ext uri="{BB962C8B-B14F-4D97-AF65-F5344CB8AC3E}">
        <p14:creationId xmlns:p14="http://schemas.microsoft.com/office/powerpoint/2010/main" val="9988593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53BF663A-F99E-4708-8061-126A18DC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</a:defRPr>
            </a:pPr>
            <a:r>
              <a:rPr sz="2850" b="0">
                <a:solidFill>
                  <a:srgbClr val="000000"/>
                </a:solidFill>
              </a:rPr>
              <a:t>The workflow turns public route evidence into a testable allocation</a:t>
            </a:r>
          </a:p>
        </p:txBody>
      </p:sp>
      <p:sp>
        <p:nvSpPr>
          <p:cNvPr id="2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ADA823D2-1942-418B-9369-79D139CC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6C"/>
                </a:solidFill>
              </a:defRPr>
            </a:pPr>
            <a:r>
              <a:rPr sz="1500" b="0">
                <a:solidFill>
                  <a:srgbClr val="5F666C"/>
                </a:solidFill>
              </a:rPr>
              <a:t>MMM-style response modeling is one component inside a broader route sustainability system.</a:t>
            </a:r>
          </a:p>
        </p:txBody>
      </p:sp>
      <p:sp>
        <p:nvSpPr>
          <p:cNvPr id="3" name="slide-3-footer">
            <a:extLst xmlns:a="http://schemas.openxmlformats.org/drawingml/2006/main">
              <a:ext uri="{FF2B5EF4-FFF2-40B4-BE49-F238E27FC236}">
                <a16:creationId xmlns:a16="http://schemas.microsoft.com/office/drawing/2014/main" id="{C94FA373-A032-46D8-BD1F-FFBD8A24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1EC93-3032-48F1-8FAA-61191107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31623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11204-FD5F-4187-8FC8-FF665A17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2F9F4-E78F-414B-AF67-092862B9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628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Root demand and supply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4FF68-83DF-4C6D-8BE7-942A90EF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647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6C"/>
                </a:solidFill>
              </a:defRPr>
            </a:pPr>
            <a:r>
              <a:rPr sz="1425" b="0">
                <a:solidFill>
                  <a:srgbClr val="5F666C"/>
                </a:solidFill>
              </a:rPr>
              <a:t>Airport context, route-active evidence, movement proxies, hub competition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5EFE8-0580-43EA-971B-1565F4D0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909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57981-3129-47BF-88A2-19A7BCF7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38350"/>
            <a:ext cx="31623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4D833-F4CD-440C-A399-6914AB32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6D564-83DF-4A54-9D31-14EBACB2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57500"/>
            <a:ext cx="2628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Marketing response module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F83EB-2592-4991-AD67-7302A50D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14750"/>
            <a:ext cx="2647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6C"/>
                </a:solidFill>
              </a:defRPr>
            </a:pPr>
            <a:r>
              <a:rPr sz="1425" b="0">
                <a:solidFill>
                  <a:srgbClr val="5F666C"/>
                </a:solidFill>
              </a:rPr>
              <a:t>Scenario curves, adstock/saturation structure, recovery sensitivity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C6DE6-CD0E-4CC8-BA1D-0754C7B2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909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34724-1DAC-4420-8A4E-AC263349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31623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C28E93-AB8F-4B6C-9BFC-883EBFBE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28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213663-2CD7-4D6B-99A2-6303062A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57500"/>
            <a:ext cx="2628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Optimization and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E9C53-5837-4B0C-BF4A-F79B1AAC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14750"/>
            <a:ext cx="2647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6C"/>
                </a:solidFill>
              </a:defRPr>
            </a:pPr>
            <a:r>
              <a:rPr sz="1425" b="0">
                <a:solidFill>
                  <a:srgbClr val="5F666C"/>
                </a:solidFill>
              </a:rPr>
              <a:t>Constrained budget allocation, matched-route tests, scale / maintain / stop rules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06895-F363-4F5E-8A93-3A78DD6C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Result: a planning system that can recommend where to spend and what evidence is required next.</a:t>
            </a:r>
          </a:p>
        </p:txBody>
      </p:sp>
    </p:spTree>
    <p:extLst>
      <p:ext uri="{BB962C8B-B14F-4D97-AF65-F5344CB8AC3E}">
        <p14:creationId xmlns:p14="http://schemas.microsoft.com/office/powerpoint/2010/main" val="5145055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13E39DC-B793-44C3-805E-FE4BF3DE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</a:defRPr>
            </a:pPr>
            <a:r>
              <a:rPr sz="2850" b="0">
                <a:solidFill>
                  <a:srgbClr val="000000"/>
                </a:solidFill>
              </a:rPr>
              <a:t>Opportunity scoring separates active scale bets from relaunch feasibility</a:t>
            </a:r>
          </a:p>
        </p:txBody>
      </p:sp>
      <p:sp>
        <p:nvSpPr>
          <p:cNvPr id="2" name="slide-4-subtitle">
            <a:extLst xmlns:a="http://schemas.openxmlformats.org/drawingml/2006/main">
              <a:ext uri="{FF2B5EF4-FFF2-40B4-BE49-F238E27FC236}">
                <a16:creationId xmlns:a16="http://schemas.microsoft.com/office/drawing/2014/main" id="{B9773A3C-9E45-449B-A9F8-32D126A2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6C"/>
                </a:solidFill>
              </a:defRPr>
            </a:pPr>
            <a:r>
              <a:rPr sz="1500" b="0">
                <a:solidFill>
                  <a:srgbClr val="5F666C"/>
                </a:solidFill>
              </a:rPr>
              <a:t>The highest-priority route is not automatically a media-scale route when service is inactive.</a:t>
            </a:r>
          </a:p>
        </p:txBody>
      </p:sp>
      <p:sp>
        <p:nvSpPr>
          <p:cNvPr id="3" name="slide-4-footer">
            <a:extLst xmlns:a="http://schemas.openxmlformats.org/drawingml/2006/main">
              <a:ext uri="{FF2B5EF4-FFF2-40B4-BE49-F238E27FC236}">
                <a16:creationId xmlns:a16="http://schemas.microsoft.com/office/drawing/2014/main" id="{2E557FF5-41D2-449A-8E2E-2A070479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A88B0-8A57-4147-BCD5-184EF93B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5619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720CE-6CA5-4B4D-82A0-99AF24E7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561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92ADB-2AAF-4558-A2A2-69520349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42875-D38E-4865-9FC7-9620E179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96215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80B61-CF0C-42A6-9D65-2A233ABF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6215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4F0A2-2E40-4108-8D2D-CC67A268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6215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BF6C7-E67F-4573-94EA-7AAD3853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6215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38159A-3044-4606-B0A9-506CB991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6215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BE47E-481E-4C0C-8C96-5B11FFFD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DFAF5-4EA8-45EC-9EC6-84473E2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1D3264-40EB-4731-A242-C1EB020B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143DA4-165F-48A4-9C01-2CBEA5CC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045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482C98-6000-4DD6-B279-9F3DBBE8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FFE217-6582-4E52-AD1E-F7A15C15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0AF358-1751-4243-80FB-E86DCD17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Route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ABC973-08AB-420A-9744-D5BEEAED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4787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723A32-191E-4AC9-9792-71DE3058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478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0834AD-41D6-4DE6-ABDC-88AF0E45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478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Sustain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58566D-D521-4C0B-B7E3-FC97A84B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C8E4C2-EDD1-40C7-9B1C-75851939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YKF-YVR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1C82ED-BBE7-4BC8-B3B9-F01C21AC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193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inactive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017517-2E9C-4B0F-9DA9-31E2323A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193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81.9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515C76-A547-4651-9BD1-24F57214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193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76.7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44C233-25FC-4E9F-B595-16861599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193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Capacity-gated relaunch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F71DB8-5273-4B1C-9A01-C931E2F7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YKF-YEG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D6C526-7BB9-472C-9846-5B2F5E55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384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active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A9701F-3271-4B34-B10D-314FB95B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384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71.6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7061A6-7203-49B4-8A4B-E85ABDCB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384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73.3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D50FDD-907B-4E84-9D02-4E9A9BCE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38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Scale / defend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A1EF7D-667C-48AF-9C7A-CF3291C5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YKF-YYC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30E4F7-2E1C-47B4-A82A-F11025B2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575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active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A4F1FC-8B53-4DDE-84C6-DDCB5CBA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575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68.1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28FB18-B480-4014-AD50-9F33A36C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575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76.3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BF0001-0D16-4B9B-9F75-872BE057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57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Test and learn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337D24-C592-4443-9CE0-8950E67B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YXU-YVR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C8DBF4-06B0-461B-B518-15A91E64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766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inactive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053206-F3B9-4359-BADE-184AA301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766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67.4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250DCE-FF79-4877-B2FC-51C7A878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766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68.8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B751D2-C91D-490D-BE1D-E7C6A1E7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766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Capacity-gated relaunch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5BBFE7-B739-4892-8603-D068E9F3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YXX-YYC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C75C40-305E-4DD1-B192-0DFD99EB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9575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active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B25F49-E14D-4524-9C77-2C530E92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957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65.9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9B2624-5D2C-4235-AF43-47812373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957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77.5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2DB0A8-4919-443B-BDD5-453FDB1C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95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Test and learn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D6BAEB-8702-444F-842E-C6BE162D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09750"/>
            <a:ext cx="4572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9E2A43-E482-44D3-B4CA-FDD32741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81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Funded route network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9E603E-AEA2-4F77-B586-61687463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718373" y="2495836"/>
            <a:ext cx="2073639" cy="19076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7C7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7D0E31-0F59-420E-A227-BCBA02E3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691516" y="2919984"/>
            <a:ext cx="2100497" cy="1483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7C7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0BB6610-AAAA-4564-BB50-CF44DAF1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118766" y="3293777"/>
            <a:ext cx="2673246" cy="11097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842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6CC56FD-2328-4641-B9FF-51C12408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691516" y="2919984"/>
            <a:ext cx="2052403" cy="15668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7C7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890D042-FA60-41E9-A641-0217EB32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169983" y="2919984"/>
            <a:ext cx="521533" cy="4047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7C7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A2ED27-1791-4142-BB8D-38E52DD5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169983" y="2495836"/>
            <a:ext cx="548390" cy="8289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D4586F3-A31B-413E-A711-1B1ED063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118766" y="3144647"/>
            <a:ext cx="237344" cy="1491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EA306F9-2FD4-46F2-A2DD-783DB0DE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862" y="434638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DE88407-D47D-4F1E-8BC5-78E7FEDD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8212" y="429876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</a:defRPr>
            </a:pPr>
            <a:r>
              <a:rPr sz="900" b="1">
                <a:solidFill>
                  <a:srgbClr val="000000"/>
                </a:solidFill>
              </a:rPr>
              <a:t>YKF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2F2588F-47E5-44A8-B8BE-07C634EE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1223" y="243868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2E0B1FC-CFB0-4150-A44D-ADD00969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573" y="2391061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</a:defRPr>
            </a:pPr>
            <a:r>
              <a:rPr sz="900" b="1">
                <a:solidFill>
                  <a:srgbClr val="000000"/>
                </a:solidFill>
              </a:rPr>
              <a:t>YEG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82C98EA-7155-4322-89D2-2CE811CF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366" y="286283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159C1C8-B7E1-499B-A993-CBBADD4A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716" y="2815209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</a:defRPr>
            </a:pPr>
            <a:r>
              <a:rPr sz="900" b="1">
                <a:solidFill>
                  <a:srgbClr val="000000"/>
                </a:solidFill>
              </a:rPr>
              <a:t>YYC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240C1DB-7FA5-495E-A91E-E290CAC1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1616" y="3236627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9AE896A-5480-4CEA-AB32-670913EE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966" y="3189002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</a:defRPr>
            </a:pPr>
            <a:r>
              <a:rPr sz="900" b="1">
                <a:solidFill>
                  <a:srgbClr val="000000"/>
                </a:solidFill>
              </a:rPr>
              <a:t>YVR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2BA36DC-FA53-4FD0-AF5E-7161EE37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769" y="442966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CD11C40-BBA8-4BCD-8485-70995AF1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119" y="438204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</a:defRPr>
            </a:pPr>
            <a:r>
              <a:rPr sz="900" b="1">
                <a:solidFill>
                  <a:srgbClr val="000000"/>
                </a:solidFill>
              </a:rPr>
              <a:t>YXU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FBA075A-5FF4-4736-B799-0ADD49BA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833" y="326761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8FE9F3B-821B-40CA-BEE5-EB567F82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183" y="321999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</a:defRPr>
            </a:pPr>
            <a:r>
              <a:rPr sz="900" b="1">
                <a:solidFill>
                  <a:srgbClr val="000000"/>
                </a:solidFill>
              </a:rPr>
              <a:t>YXX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34B4920-A524-4C85-A94D-8C35C500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961" y="3087497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46E8091-5F8C-4642-81B3-447A4BC8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311" y="3039872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000"/>
                </a:solidFill>
              </a:defRPr>
            </a:pPr>
            <a:r>
              <a:rPr sz="900" b="1">
                <a:solidFill>
                  <a:srgbClr val="000000"/>
                </a:solidFill>
              </a:rPr>
              <a:t>YLW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D799516-DEE9-4ABF-B4E3-714AEA18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YKF_YVR ranks high but remains a capacity-gated relaunch candidate because the end-of-period route status is inactive.</a:t>
            </a:r>
          </a:p>
        </p:txBody>
      </p:sp>
    </p:spTree>
    <p:extLst>
      <p:ext uri="{BB962C8B-B14F-4D97-AF65-F5344CB8AC3E}">
        <p14:creationId xmlns:p14="http://schemas.microsoft.com/office/powerpoint/2010/main" val="16975404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EC4F283E-81D3-46DF-A7CA-A688D06D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</a:defRPr>
            </a:pPr>
            <a:r>
              <a:rPr sz="2850" b="0">
                <a:solidFill>
                  <a:srgbClr val="000000"/>
                </a:solidFill>
              </a:rPr>
              <a:t>Sensitivity analysis keeps simulated marketing honest</a:t>
            </a:r>
          </a:p>
        </p:txBody>
      </p:sp>
      <p:sp>
        <p:nvSpPr>
          <p:cNvPr id="2" name="slide-5-subtitle">
            <a:extLst xmlns:a="http://schemas.openxmlformats.org/drawingml/2006/main">
              <a:ext uri="{FF2B5EF4-FFF2-40B4-BE49-F238E27FC236}">
                <a16:creationId xmlns:a16="http://schemas.microsoft.com/office/drawing/2014/main" id="{F5EC8C71-2A3E-4ECE-AF36-770CA286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6C"/>
                </a:solidFill>
              </a:defRPr>
            </a:pPr>
            <a:r>
              <a:rPr sz="1500" b="0">
                <a:solidFill>
                  <a:srgbClr val="5F666C"/>
                </a:solidFill>
              </a:rPr>
              <a:t>Budget direction is more stable than exact channel ranking under simulated spend mechanisms.</a:t>
            </a:r>
          </a:p>
        </p:txBody>
      </p:sp>
      <p:sp>
        <p:nvSpPr>
          <p:cNvPr id="3" name="slide-5-footer">
            <a:extLst xmlns:a="http://schemas.openxmlformats.org/drawingml/2006/main">
              <a:ext uri="{FF2B5EF4-FFF2-40B4-BE49-F238E27FC236}">
                <a16:creationId xmlns:a16="http://schemas.microsoft.com/office/drawing/2014/main" id="{392F8B77-BDC3-475B-9EAB-40D6F929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95300" y="1676400"/>
          <a:ext xmlns:a="http://schemas.openxmlformats.org/drawingml/2006/main" cx="685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ab8fe9aca3436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9D1CA-079A-4654-99DA-7DD7B518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238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31160-1763-41A9-9BDD-04888E2B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</a:defRPr>
            </a:pPr>
            <a:r>
              <a:rPr sz="2700" b="1">
                <a:solidFill>
                  <a:srgbClr val="3D8DFF"/>
                </a:solidFill>
              </a:rPr>
              <a:t>58%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9B595-89CB-435B-94C4-AE37C23F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76450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6C"/>
                </a:solidFill>
              </a:defRPr>
            </a:pPr>
            <a:r>
              <a:rPr sz="1275" b="0">
                <a:solidFill>
                  <a:srgbClr val="5F666C"/>
                </a:solidFill>
              </a:rPr>
              <a:t>Top-channel recovery for controlled saturation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899B8-9373-499F-9116-40C33DF2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81350"/>
            <a:ext cx="3238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ABB62-E2D4-4D54-A3B3-CA3F5DF7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099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79EDF6-0A43-4B2C-9C67-6C6D10AB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48050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6C"/>
                </a:solidFill>
              </a:defRPr>
            </a:pPr>
            <a:r>
              <a:rPr sz="1275" b="0">
                <a:solidFill>
                  <a:srgbClr val="5F666C"/>
                </a:solidFill>
              </a:rPr>
              <a:t>Top-channel recovery for naive raw-spend ranking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AD1C4-8E7E-40DE-99B0-26FC3F14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The right claim is directional planning support, not observed causal channel ROI.</a:t>
            </a:r>
          </a:p>
        </p:txBody>
      </p:sp>
    </p:spTree>
    <p:extLst>
      <p:ext uri="{BB962C8B-B14F-4D97-AF65-F5344CB8AC3E}">
        <p14:creationId xmlns:p14="http://schemas.microsoft.com/office/powerpoint/2010/main" val="17572534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D78D8CF2-1FD9-4ECC-BFD9-AB6E296A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</a:defRPr>
            </a:pPr>
            <a:r>
              <a:rPr sz="2850" b="0">
                <a:solidFill>
                  <a:srgbClr val="000000"/>
                </a:solidFill>
              </a:rPr>
              <a:t>A CAD 500K portfolio funds seven routes with one capacity-gated relaunch</a:t>
            </a:r>
          </a:p>
        </p:txBody>
      </p:sp>
      <p:sp>
        <p:nvSpPr>
          <p:cNvPr id="2" name="slide-6-subtitle">
            <a:extLst xmlns:a="http://schemas.openxmlformats.org/drawingml/2006/main">
              <a:ext uri="{FF2B5EF4-FFF2-40B4-BE49-F238E27FC236}">
                <a16:creationId xmlns:a16="http://schemas.microsoft.com/office/drawing/2014/main" id="{4856C3F7-5D96-4ECE-872B-5D67E9AF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6C"/>
                </a:solidFill>
              </a:defRPr>
            </a:pPr>
            <a:r>
              <a:rPr sz="1500" b="0">
                <a:solidFill>
                  <a:srgbClr val="5F666C"/>
                </a:solidFill>
              </a:rPr>
              <a:t>The recommended case balances route-health lift, passenger proxy, and strategic priority.</a:t>
            </a:r>
          </a:p>
        </p:txBody>
      </p:sp>
      <p:sp>
        <p:nvSpPr>
          <p:cNvPr id="3" name="slide-6-footer">
            <a:extLst xmlns:a="http://schemas.openxmlformats.org/drawingml/2006/main">
              <a:ext uri="{FF2B5EF4-FFF2-40B4-BE49-F238E27FC236}">
                <a16:creationId xmlns:a16="http://schemas.microsoft.com/office/drawing/2014/main" id="{CEE5A6EC-FA40-4D15-99ED-CB2CD166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0CBCE-6FF0-4FBB-8AA6-249C86D0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38820-95B2-46C7-BEBB-B531B722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CAD 500K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92613-A893-49B9-853D-E0FF7975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6C"/>
                </a:solidFill>
              </a:defRPr>
            </a:pPr>
            <a:r>
              <a:rPr sz="1200" b="0">
                <a:solidFill>
                  <a:srgbClr val="5F666C"/>
                </a:solidFill>
              </a:rPr>
              <a:t>Total budget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0FEE5-758C-429D-98F1-E90256DA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9070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A0CFA-5FDD-42B0-A437-A5A96EF3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002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6D6C1-3E99-4D93-B9B2-042B32D2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574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6C"/>
                </a:solidFill>
              </a:defRPr>
            </a:pPr>
            <a:r>
              <a:rPr sz="1200" b="0">
                <a:solidFill>
                  <a:srgbClr val="5F666C"/>
                </a:solidFill>
              </a:rPr>
              <a:t>Funded routes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6E4E4-4801-4839-A403-7DA80ED6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907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E13CA-7C1D-4DAF-9587-1DF1A59B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002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16,936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EF6F9-E4C6-4E05-BCEC-8602F445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574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6C"/>
                </a:solidFill>
              </a:defRPr>
            </a:pPr>
            <a:r>
              <a:rPr sz="1200" b="0">
                <a:solidFill>
                  <a:srgbClr val="5F666C"/>
                </a:solidFill>
              </a:rPr>
              <a:t>Incremental passenger proxy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6A733-03F3-4A92-89B3-3AA9B38C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907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F35EB-FD0A-4525-87BD-920BCD4C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22.2 pts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0613DA-D824-4595-A5C5-A1116A4B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6C"/>
                </a:solidFill>
              </a:defRPr>
            </a:pPr>
            <a:r>
              <a:rPr sz="1200" b="0">
                <a:solidFill>
                  <a:srgbClr val="5F666C"/>
                </a:solidFill>
              </a:rPr>
              <a:t>Route-health lift</a:t>
            </a:r>
          </a:p>
        </p:txBody>
      </p:sp>
      <p:graphicFrame>
        <p:nvGraphicFramePr>
          <p:cNvPr id="70" name="Chart"/>
          <p:cNvGraphicFramePr/>
          <p:nvPr/>
        </p:nvGraphicFramePr>
        <p:xfrm>
          <a:off xmlns:a="http://schemas.openxmlformats.org/drawingml/2006/main" x="552450" y="3352800"/>
          <a:ext xmlns:a="http://schemas.openxmlformats.org/drawingml/2006/main" cx="6762750" cy="2533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36fdf18b084ef2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1D8CC-544B-4FF8-A045-32291371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8500"/>
            <a:ext cx="33718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026DCD-96E3-4E77-B98D-3120C7B3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8500"/>
            <a:ext cx="3371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BE2906-33C2-4C5F-979A-C8C52F23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8500"/>
            <a:ext cx="0" cy="2495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E21273-D6CB-463B-B930-879BB561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38500"/>
            <a:ext cx="0" cy="2495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ECB605-F056-4A20-AAAD-F7EAA11E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38500"/>
            <a:ext cx="0" cy="2495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9901FF-B4D5-48B1-B335-8A661032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38500"/>
            <a:ext cx="0" cy="2495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9D8B9F-5517-4068-AB2D-4C3C8C21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004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915DC2-F65B-489E-A649-F0F9907F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052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EFF6B1-8E10-480D-A435-567FDC93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00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1E2DB0-CA0F-49B6-9B42-3159208D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148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7535B0-77F4-4596-B0DE-6259270F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378B9D-7031-4010-B5D1-DD444F61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244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449276-B80F-4FEC-94CE-1CB7F8DE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292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179E24-0EDF-4A08-BB77-C66E174F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7340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0AAE63-7FD6-43FE-9E27-09E5C1E0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242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Route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84BF07-6CA8-4158-88E8-4EB0C524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242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Budget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627108-565D-4550-A953-DD782FBA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2422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Bucket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1E0070-6EA0-44AB-AFB9-BC012D0B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766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YKF-YEG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FAB1D3-FEB3-40E8-A528-64DF2396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766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100K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6D69A7-CACB-45B2-AE3F-B8835AFD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766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scale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668A5F-4894-414D-896E-C1AE4256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814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YKF-YYC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F6F535-AE4B-4E2E-B2C0-CA798433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814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100K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8AF4F4-C338-41B2-A04D-420BFBFB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814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test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5A430B-FC59-42D0-8B04-9C91AA61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862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YKF-YVR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0BC8B8-6318-491C-9CB5-DE7AD773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862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75K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CC8104-F48F-49E8-98CA-47923BAF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862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relaunch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81770A-C963-423B-B7C3-6B560CD3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910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YXU-YYC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6F581E-49D0-4927-AD20-5CCD4EC5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910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75K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5CA1EE-E258-4450-979E-E138E3FA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910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test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12BD05-56DE-4FF0-9765-B8B981B1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958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YXX-YYC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42EBAC-E0A9-4123-8E5C-D8D5D3AF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958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75K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35D265-5A89-4342-B067-CBBB71B8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958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test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03778C-6339-4362-BFBE-DAA22AAE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006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YXX-YEG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88E8B6-0CC1-450D-8367-E020079A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006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50K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70E0D3-B9FD-4A98-8524-F86C9791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2006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maintain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D063C1-8083-4146-B00E-42CBEC9F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054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YLW-YVR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655D08-C41C-4985-A0E5-CD441437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054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25K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9F542C-BFDB-4E59-9F21-FB571F89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5054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maintain</a:t>
            </a:r>
          </a:p>
        </p:txBody>
      </p:sp>
    </p:spTree>
    <p:extLst>
      <p:ext uri="{BB962C8B-B14F-4D97-AF65-F5344CB8AC3E}">
        <p14:creationId xmlns:p14="http://schemas.microsoft.com/office/powerpoint/2010/main" val="1036569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5A11881D-9CC9-45A1-8367-2F9EB13C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</a:defRPr>
            </a:pPr>
            <a:r>
              <a:rPr sz="2850" b="0">
                <a:solidFill>
                  <a:srgbClr val="000000"/>
                </a:solidFill>
              </a:rPr>
              <a:t>Every recommendation is tied to a validation design</a:t>
            </a:r>
          </a:p>
        </p:txBody>
      </p:sp>
      <p:sp>
        <p:nvSpPr>
          <p:cNvPr id="2" name="slide-7-subtitle">
            <a:extLst xmlns:a="http://schemas.openxmlformats.org/drawingml/2006/main">
              <a:ext uri="{FF2B5EF4-FFF2-40B4-BE49-F238E27FC236}">
                <a16:creationId xmlns:a16="http://schemas.microsoft.com/office/drawing/2014/main" id="{C914B231-FE88-4481-95B6-C5460962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6C"/>
                </a:solidFill>
              </a:defRPr>
            </a:pPr>
            <a:r>
              <a:rPr sz="1500" b="0">
                <a:solidFill>
                  <a:srgbClr val="5F666C"/>
                </a:solidFill>
              </a:rPr>
              <a:t>The output is a test plan with matched controls, not a direct instruction to scale spend immediately.</a:t>
            </a:r>
          </a:p>
        </p:txBody>
      </p:sp>
      <p:sp>
        <p:nvSpPr>
          <p:cNvPr id="3" name="slide-7-footer">
            <a:extLst xmlns:a="http://schemas.openxmlformats.org/drawingml/2006/main">
              <a:ext uri="{FF2B5EF4-FFF2-40B4-BE49-F238E27FC236}">
                <a16:creationId xmlns:a16="http://schemas.microsoft.com/office/drawing/2014/main" id="{76A23A5B-F797-4069-A2F8-A9F10CCD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F485C-8257-41BA-9B19-4F11C394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105727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3BF74-3764-49A4-84BF-C3C9FE25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1057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CDB1B-4274-4C43-A887-0E40EFA9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0" cy="2990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67FE3-6997-487F-B45A-69587959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00250"/>
            <a:ext cx="0" cy="2990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01384-F181-4079-832E-A737E033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0" cy="2990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D7629-61A6-4083-87E9-3E3FBF05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0" cy="2990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7E194-7660-4E8B-939B-E3F86FC3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000250"/>
            <a:ext cx="0" cy="2990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70CE0-FB38-4DB7-8425-1FFD30A4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117DC-D644-42C8-86C2-557E5D5E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3AE5C-A342-486C-84AA-F916E834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F6B565-665B-439A-936F-4FBA251D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14D67-E6A6-4C6E-B8C8-4576F1E1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911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9E98E-7E60-4B23-ABD2-2B92ED1D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859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Group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9DEF9-EE16-4791-B2D7-5A9A61A6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8597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Routes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DB002B-C822-44AD-8B71-74B64066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8597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7078E4-682A-4805-BC2D-29ED6A6C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85975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Decision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9B410F-315F-41EE-A697-C47A5F4B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447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Scale / defend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A122CE-7350-4D7F-A80A-F84336A5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765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YKF-YEG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E312C1-645F-4A6C-9A2B-9FEAEB18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7650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matched geo lift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0B0E0A-98F6-47D4-B49C-40B589A0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76500"/>
            <a:ext cx="436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Scale only if lift clears target and guardrails hold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AE35DB-D2B2-4418-BDA8-1F367B29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24200"/>
            <a:ext cx="1447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Test and learn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07AC3C-8450-412D-8BE4-929CB98F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242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YKF-YYC, YXU-YYC, YXX-YYC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BDC764-25FE-44B2-854B-0FCE0C3B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2420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matched geo lift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D81C49-9422-409D-B99B-5F8F3310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24200"/>
            <a:ext cx="436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Pool similar routes or extend window where power is directional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8758E3-71C0-48E0-BB72-16F1A553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71900"/>
            <a:ext cx="1447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Relaunch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7CA7F2-6642-4B1D-A83E-E8921F22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719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YKF-YVR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88CD59-C3BE-4072-8845-B897E119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7190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capacity gate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29B399-C938-40C5-BDC4-DDE55FCA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71900"/>
            <a:ext cx="436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Advance only with qualified demand and capacity interest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A61232-5B43-44D3-B627-D31D2481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1447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Maintain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66F33E-9140-4312-8287-0669923A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196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YXX-YEG, YLW-YVR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3C97FD-2605-4B82-A64D-7704D532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1960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guardrail test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BE63B5-72D8-41B5-BBA4-9AA993A7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19600"/>
            <a:ext cx="436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Keep spend capped unless leakage or retention signal improves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23C38B-A3F8-4F22-88A4-615381C7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6BFC4A-4BF4-4303-89B9-9872BCB8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986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Active routes use matched-route or geo-lift designs; relaunch routes require capacity-gated feasibility before passenger lift claims.</a:t>
            </a:r>
          </a:p>
        </p:txBody>
      </p:sp>
    </p:spTree>
    <p:extLst>
      <p:ext uri="{BB962C8B-B14F-4D97-AF65-F5344CB8AC3E}">
        <p14:creationId xmlns:p14="http://schemas.microsoft.com/office/powerpoint/2010/main" val="2166752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C3A3156A-E964-4761-A8DC-593E121C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</a:defRPr>
            </a:pPr>
            <a:r>
              <a:rPr sz="2850" b="0">
                <a:solidFill>
                  <a:srgbClr val="000000"/>
                </a:solidFill>
              </a:rPr>
              <a:t>Meridian is the future MMM component, not a claim in this prototype</a:t>
            </a:r>
          </a:p>
        </p:txBody>
      </p:sp>
      <p:sp>
        <p:nvSpPr>
          <p:cNvPr id="2" name="slide-8-subtitle">
            <a:extLst xmlns:a="http://schemas.openxmlformats.org/drawingml/2006/main">
              <a:ext uri="{FF2B5EF4-FFF2-40B4-BE49-F238E27FC236}">
                <a16:creationId xmlns:a16="http://schemas.microsoft.com/office/drawing/2014/main" id="{F82D6AFF-EECA-4F84-9025-6D1899C0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6C"/>
                </a:solidFill>
              </a:defRPr>
            </a:pPr>
            <a:r>
              <a:rPr sz="1500" b="0">
                <a:solidFill>
                  <a:srgbClr val="5F666C"/>
                </a:solidFill>
              </a:rPr>
              <a:t>The production path is clear, but the current public-data prototype intentionally avoids false causal precision.</a:t>
            </a:r>
          </a:p>
        </p:txBody>
      </p:sp>
      <p:sp>
        <p:nvSpPr>
          <p:cNvPr id="3" name="slide-8-footer">
            <a:extLst xmlns:a="http://schemas.openxmlformats.org/drawingml/2006/main">
              <a:ext uri="{FF2B5EF4-FFF2-40B4-BE49-F238E27FC236}">
                <a16:creationId xmlns:a16="http://schemas.microsoft.com/office/drawing/2014/main" id="{660D6FFF-1C8A-44C8-BC6D-01D25453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CD193-53E0-4572-8821-DF6ED5B0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62150"/>
            <a:ext cx="47625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691F2-BABE-4EDB-A381-3C308A3A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Current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C26EE-59EB-4BA1-B713-147D9D6A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BC239-F3D3-4A27-8F84-544C9034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Route-month panel from public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D37F7-92CF-4E95-AE3C-2E9D1434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79F47-F7FA-41E8-BFCC-8398C335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Scenario response curves, not observed channel ROI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B87C4-B7CC-47E5-82D7-46843339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FC437-62B5-4787-97CE-9ADBBCD1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Sensitivity analysis to expose recovery limits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D6D77-2E91-4B6A-BB97-376C32F7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94DE5A-28D9-4556-A145-AC3425E1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Budget optimizer and experiment 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63E88-10C7-43B7-80B7-F9E8BF9C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7625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F28D2-14A8-4F10-A380-C500BA14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Future production 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A2ACAE-4D72-4569-ACCA-CC3F82D7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09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143D4-513C-44E8-950B-B695DBE0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146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BigQuery stores route, spend, and outcome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5BF63C-389B-47A2-A2AF-D5D20A71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09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4A965-E751-4345-BED3-5DF7BE14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147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Vertex AI Pipelines rebuild and compare models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92C52-E199-4E1C-A9D5-7F42F9BA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10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227276-CFC1-4436-9276-24BDC425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14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Meridian estimates MMM response and ROI/mROI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340356-05D6-4CB7-800E-E54758A9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0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B74FDF-5ED2-43BD-AE8A-6C08E55B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Looker or dashboard exports planning outputs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3F52AD-FD77-4EBF-8C1D-E1F06AC0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Project caveat: I did not run Meridian because the data does not support a production MMM yet. I designed exactly where it would plug in once real spend and outcomes exist.</a:t>
            </a:r>
          </a:p>
        </p:txBody>
      </p:sp>
    </p:spTree>
    <p:extLst>
      <p:ext uri="{BB962C8B-B14F-4D97-AF65-F5344CB8AC3E}">
        <p14:creationId xmlns:p14="http://schemas.microsoft.com/office/powerpoint/2010/main" val="1873779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2026-08-05T18:28:06.8400000Z</dcterms:created>
  <dcterms:modified xsi:type="dcterms:W3CDTF">2026-08-05T18:28:06.8400000Z</dcterms:modified>
</coreProperties>
</file>