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ae95bd8e6ee438a" /><Relationship Type="http://schemas.openxmlformats.org/officeDocument/2006/relationships/extended-properties" Target="/docProps/app.xml" Id="R12b94d07a6f948c6" /><Relationship Type="http://schemas.openxmlformats.org/officeDocument/2006/relationships/officeDocument" Target="/ppt/presentation.xml" Id="Rb45a2239f837466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d9ef98554c44b9c"/>
  </p:sldMasterIdLst>
  <p:notesMasterIdLst>
    <p:notesMasterId xmlns:r="http://schemas.openxmlformats.org/officeDocument/2006/relationships" r:id="R5cc67b25002f4d4a"/>
  </p:notesMasterIdLst>
  <p:sldIdLst>
    <p:sldId xmlns:r="http://schemas.openxmlformats.org/officeDocument/2006/relationships" id="256" r:id="R875d257839914583"/>
    <p:sldId xmlns:r="http://schemas.openxmlformats.org/officeDocument/2006/relationships" id="257" r:id="R3ed81040970b4d6c"/>
    <p:sldId xmlns:r="http://schemas.openxmlformats.org/officeDocument/2006/relationships" id="258" r:id="Rd321d89262aa4222"/>
    <p:sldId xmlns:r="http://schemas.openxmlformats.org/officeDocument/2006/relationships" id="259" r:id="Rae091dcdd254444f"/>
    <p:sldId xmlns:r="http://schemas.openxmlformats.org/officeDocument/2006/relationships" id="260" r:id="Rceb11ddcb7ae405c"/>
    <p:sldId xmlns:r="http://schemas.openxmlformats.org/officeDocument/2006/relationships" id="261" r:id="R2e4fb1026b8d41d1"/>
    <p:sldId xmlns:r="http://schemas.openxmlformats.org/officeDocument/2006/relationships" id="262" r:id="Ra06b2dcf24284958"/>
    <p:sldId xmlns:r="http://schemas.openxmlformats.org/officeDocument/2006/relationships" id="263" r:id="R851104069c9d4e3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468a50c58fb4d50" /><Relationship Type="http://schemas.openxmlformats.org/officeDocument/2006/relationships/slideMaster" Target="/ppt/slideMasters/slideMaster1.xml" Id="R0d9ef98554c44b9c" /><Relationship Type="http://schemas.openxmlformats.org/officeDocument/2006/relationships/notesMaster" Target="/ppt/notesMasters/notesMaster1.xml" Id="R5cc67b25002f4d4a" /><Relationship Type="http://schemas.openxmlformats.org/officeDocument/2006/relationships/presProps" Target="/ppt/presProps.xml" Id="Ra44e516c40f34592" /><Relationship Type="http://schemas.openxmlformats.org/officeDocument/2006/relationships/tableStyles" Target="/ppt/tableStyles.xml" Id="Ra5ac3a5bf8084011" /><Relationship Type="http://schemas.openxmlformats.org/officeDocument/2006/relationships/slide" Target="/ppt/slides/slide1.xml" Id="R875d257839914583" /><Relationship Type="http://schemas.openxmlformats.org/officeDocument/2006/relationships/slide" Target="/ppt/slides/slide2.xml" Id="R3ed81040970b4d6c" /><Relationship Type="http://schemas.openxmlformats.org/officeDocument/2006/relationships/slide" Target="/ppt/slides/slide3.xml" Id="Rd321d89262aa4222" /><Relationship Type="http://schemas.openxmlformats.org/officeDocument/2006/relationships/slide" Target="/ppt/slides/slide4.xml" Id="Rae091dcdd254444f" /><Relationship Type="http://schemas.openxmlformats.org/officeDocument/2006/relationships/slide" Target="/ppt/slides/slide5.xml" Id="Rceb11ddcb7ae405c" /><Relationship Type="http://schemas.openxmlformats.org/officeDocument/2006/relationships/slide" Target="/ppt/slides/slide6.xml" Id="R2e4fb1026b8d41d1" /><Relationship Type="http://schemas.openxmlformats.org/officeDocument/2006/relationships/slide" Target="/ppt/slides/slide7.xml" Id="Ra06b2dcf24284958" /><Relationship Type="http://schemas.openxmlformats.org/officeDocument/2006/relationships/slide" Target="/ppt/slides/slide8.xml" Id="R851104069c9d4e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dab959d14f4ad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be03d00b7c4023" /><Relationship Type="http://schemas.openxmlformats.org/officeDocument/2006/relationships/notesMaster" Target="/ppt/notesMasters/notesMaster1.xml" Id="R2ce8f7bacbd44e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faafb9413054a72" /><Relationship Type="http://schemas.openxmlformats.org/officeDocument/2006/relationships/notesMaster" Target="/ppt/notesMasters/notesMaster1.xml" Id="R201c3a7dd7504f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9d1f44a519493d" /><Relationship Type="http://schemas.openxmlformats.org/officeDocument/2006/relationships/notesMaster" Target="/ppt/notesMasters/notesMaster1.xml" Id="R59110a9a3aac4c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0e6499443664669" /><Relationship Type="http://schemas.openxmlformats.org/officeDocument/2006/relationships/notesMaster" Target="/ppt/notesMasters/notesMaster1.xml" Id="Rb422a9a6230f4a3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783d28c7844168" /><Relationship Type="http://schemas.openxmlformats.org/officeDocument/2006/relationships/notesMaster" Target="/ppt/notesMasters/notesMaster1.xml" Id="R30b31ec3491d460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5c8514dbc94778" /><Relationship Type="http://schemas.openxmlformats.org/officeDocument/2006/relationships/notesMaster" Target="/ppt/notesMasters/notesMaster1.xml" Id="Rd5d7a800f29a4e1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a7e5e5de614df9" /><Relationship Type="http://schemas.openxmlformats.org/officeDocument/2006/relationships/notesMaster" Target="/ppt/notesMasters/notesMaster1.xml" Id="R23aec6842105494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facb8c198314070" /><Relationship Type="http://schemas.openxmlformats.org/officeDocument/2006/relationships/notesMaster" Target="/ppt/notesMasters/notesMaster1.xml" Id="R11c9d03b3e054f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business decision: this is a route-support and validation system, not a pure channel attribution exercise.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source: reports/final_portfolio_case_study.md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frames the problem at L4 DS level: ambiguous business decision, incomplete data, and a need to connect analysis to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source: reports/final_portfolio_case_study.md</a:t>
            </a:r>
          </a:p>
          <a:p xmlns:a="http://schemas.openxmlformats.org/drawingml/2006/main">
            <a:r>
              <a:t>Project source: docs/03_data_strategy.md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core architecture. It keeps MMM from becoming the whole project and makes it one replaceable response module.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source: reports/final_portfolio_case_study.md</a:t>
            </a:r>
          </a:p>
          <a:p xmlns:a="http://schemas.openxmlformats.org/drawingml/2006/main">
            <a:r>
              <a:t>Project source: docs/02_project_plan.md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Call out YKF_YVR: the model respects route status and business feasibility, not just a rank order.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data: data/processed/route_opportunity_score_v0.csv</a:t>
            </a:r>
          </a:p>
          <a:p xmlns:a="http://schemas.openxmlformats.org/drawingml/2006/main">
            <a:r>
              <a:t>Project source: reports/phase3_route_opportunity_memo.md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answers the user's sensitivity concern directly. The model helps budget direction, but exact channel ranking is fragile.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data: data/processed/marketing_sensitivity_summary_v0.csv</a:t>
            </a:r>
          </a:p>
          <a:p xmlns:a="http://schemas.openxmlformats.org/drawingml/2006/main">
            <a:r>
              <a:t>Project source: reports/phase4b_marketing_sensitivity_memo.md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key recommendation slide for an interview walkthrough.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data: data/processed/budget_optimization_case_summary_v0.csv</a:t>
            </a:r>
          </a:p>
          <a:p xmlns:a="http://schemas.openxmlformats.org/drawingml/2006/main">
            <a:r>
              <a:t>Project data: data/processed/budget_optimization_allocations_v0.csv</a:t>
            </a:r>
          </a:p>
          <a:p xmlns:a="http://schemas.openxmlformats.org/drawingml/2006/main">
            <a:r>
              <a:t>Project source: reports/phase5_budget_optimization_memo.md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show the system closes the loop from recommendation to measurement design.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data: data/processed/experiment_design_plan_v0.csv</a:t>
            </a:r>
          </a:p>
          <a:p xmlns:a="http://schemas.openxmlformats.org/drawingml/2006/main">
            <a:r>
              <a:t>Project data: data/processed/experiment_control_matches_v0.csv</a:t>
            </a:r>
          </a:p>
          <a:p xmlns:a="http://schemas.openxmlformats.org/drawingml/2006/main">
            <a:r>
              <a:t>Project source: reports/phase6_experiment_design_memo.md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answers the Meridian question directly.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Google Developers Meridian landing page: https://developers.google.com/meridian</a:t>
            </a:r>
          </a:p>
          <a:p xmlns:a="http://schemas.openxmlformats.org/drawingml/2006/main">
            <a:r>
              <a:t>Google Developers Meridian MMM docs: https://developers.google.com/meridian/mmm</a:t>
            </a:r>
          </a:p>
          <a:p xmlns:a="http://schemas.openxmlformats.org/drawingml/2006/main">
            <a:r>
              <a:t>GitHub google/meridian README: https://github.com/google/meridian</a:t>
            </a:r>
          </a:p>
          <a:p xmlns:a="http://schemas.openxmlformats.org/drawingml/2006/main">
            <a:r>
              <a:t>Project source: docs/18_meridian_vertex_positioning.md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8c0fa33a284b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aceec2f0184649" /><Relationship Type="http://schemas.openxmlformats.org/officeDocument/2006/relationships/slideLayout" Target="/ppt/slideLayouts/slideLayout1.xml" Id="Rf1f43e70ca0946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f43e70ca0946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5b8f57409f4422" /><Relationship Type="http://schemas.openxmlformats.org/officeDocument/2006/relationships/notesSlide" Target="/ppt/notesSlides/notesSlide1.xml" Id="R9486a06645c8462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0e0e66ebbb4f73" /><Relationship Type="http://schemas.openxmlformats.org/officeDocument/2006/relationships/notesSlide" Target="/ppt/notesSlides/notesSlide2.xml" Id="R07cf06a6071845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141215840c4ff7" /><Relationship Type="http://schemas.openxmlformats.org/officeDocument/2006/relationships/notesSlide" Target="/ppt/notesSlides/notesSlide3.xml" Id="R6d198ebdd3244f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1250c2b3084be8" /><Relationship Type="http://schemas.openxmlformats.org/officeDocument/2006/relationships/notesSlide" Target="/ppt/notesSlides/notesSlide4.xml" Id="R0adee5a30ee9407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f519f199fd4cc6" /><Relationship Type="http://schemas.openxmlformats.org/officeDocument/2006/relationships/chart" Target="/ppt/slides/charts/chart1.xml" Id="R59954dd4d04549e9" /><Relationship Type="http://schemas.openxmlformats.org/officeDocument/2006/relationships/notesSlide" Target="/ppt/notesSlides/notesSlide5.xml" Id="R10b91783cd25411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e5529c7cd64eb2" /><Relationship Type="http://schemas.openxmlformats.org/officeDocument/2006/relationships/chart" Target="/ppt/slides/charts/chart2.xml" Id="R4cb6bf132e9643d6" /><Relationship Type="http://schemas.openxmlformats.org/officeDocument/2006/relationships/notesSlide" Target="/ppt/notesSlides/notesSlide6.xml" Id="R7fc422439fa542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95b5e83412456a" /><Relationship Type="http://schemas.openxmlformats.org/officeDocument/2006/relationships/notesSlide" Target="/ppt/notesSlides/notesSlide7.xml" Id="Rc24f64e97fed4ab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99dac5ba614953" /><Relationship Type="http://schemas.openxmlformats.org/officeDocument/2006/relationships/notesSlide" Target="/ppt/notesSlides/notesSlide8.xml" Id="R72e82c0e0b5b4e6a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Top-channel recovery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3"/>
              <c:pt idx="0">
                <c:v>Controlled saturation</c:v>
              </c:pt>
              <c:pt idx="1">
                <c:v>Controlled adstock</c:v>
              </c:pt>
              <c:pt idx="2">
                <c:v>Naive raw spend</c:v>
              </c:pt>
            </c:strLit>
          </c:cat>
          <c:val>
            <c:numLit>
              <c:formatCode>0"%"</c:formatCode>
              <c:ptCount val="3"/>
              <c:pt idx="0">
                <c:v>58</c:v>
              </c:pt>
              <c:pt idx="1">
                <c:v>54</c:v>
              </c:pt>
              <c:pt idx="2">
                <c:v>8</c:v>
              </c:pt>
            </c:numLit>
          </c:val>
        </c:ser>
        <c:ser>
          <c:idx val="1"/>
          <c:order val="1"/>
          <c:tx>
            <c:v>Budget-efficiency ratio</c:v>
          </c:tx>
          <c:spPr>
            <a:solidFill xmlns:a="http://schemas.openxmlformats.org/drawingml/2006/main">
              <a:srgbClr val="6DCBF4"/>
            </a:solidFill>
          </c:spPr>
          <c:cat>
            <c:strLit>
              <c:ptCount val="3"/>
              <c:pt idx="0">
                <c:v>Controlled saturation</c:v>
              </c:pt>
              <c:pt idx="1">
                <c:v>Controlled adstock</c:v>
              </c:pt>
              <c:pt idx="2">
                <c:v>Naive raw spend</c:v>
              </c:pt>
            </c:strLit>
          </c:cat>
          <c:val>
            <c:numLit>
              <c:formatCode>0"%"</c:formatCode>
              <c:ptCount val="3"/>
              <c:pt idx="0">
                <c:v>93</c:v>
              </c:pt>
              <c:pt idx="1">
                <c:v>90</c:v>
              </c:pt>
              <c:pt idx="2">
                <c:v>82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F666C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F666C"/>
                </a:solidFill>
              </a:defRPr>
            </a:pPr>
          </a:p>
        </c:txPr>
        <c:crossAx val="48650112"/>
        <c:crossBetween val="between"/>
        <c:majorUnit val="2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5F666C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Campaign budget (CAD K)</c:v>
          </c:tx>
          <c:spPr>
            <a:solidFill xmlns:a="http://schemas.openxmlformats.org/drawingml/2006/main">
              <a:srgbClr val="3D8DF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D8DFF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D8DF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C8842B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D8DFF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D8DF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3D8DF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3D8DFF"/>
              </a:solidFill>
            </c:spPr>
          </c:dPt>
          <c:cat>
            <c:strLit>
              <c:ptCount val="7"/>
              <c:pt idx="0">
                <c:v>YKF-YEG</c:v>
              </c:pt>
              <c:pt idx="1">
                <c:v>YKF-YYC</c:v>
              </c:pt>
              <c:pt idx="2">
                <c:v>YKF-YVR</c:v>
              </c:pt>
              <c:pt idx="3">
                <c:v>YXU-YYC</c:v>
              </c:pt>
              <c:pt idx="4">
                <c:v>YXX-YYC</c:v>
              </c:pt>
              <c:pt idx="5">
                <c:v>YXX-YEG</c:v>
              </c:pt>
              <c:pt idx="6">
                <c:v>YLW-YVR</c:v>
              </c:pt>
            </c:strLit>
          </c:cat>
          <c:val>
            <c:numLit>
              <c:formatCode>General</c:formatCode>
              <c:ptCount val="7"/>
              <c:pt idx="0">
                <c:v>100</c:v>
              </c:pt>
              <c:pt idx="1">
                <c:v>100</c:v>
              </c:pt>
              <c:pt idx="2">
                <c:v>75</c:v>
              </c:pt>
              <c:pt idx="3">
                <c:v>75</c:v>
              </c:pt>
              <c:pt idx="4">
                <c:v>75</c:v>
              </c:pt>
              <c:pt idx="5">
                <c:v>50</c:v>
              </c:pt>
              <c:pt idx="6">
                <c:v>25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F666C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20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C7ECC8-9ED0-4C46-90ED-36B66711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57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5F666C"/>
                </a:solidFill>
              </a:defRPr>
            </a:pPr>
            <a:r>
              <a:rPr sz="2400" b="0">
                <a:solidFill>
                  <a:srgbClr val="5F666C"/>
                </a:solidFill>
              </a:rPr>
              <a:t>Regional Route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036A46-2045-4A37-8216-BED653B7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96202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6000" b="0">
                <a:solidFill>
                  <a:srgbClr val="000000"/>
                </a:solidFill>
              </a:defRPr>
            </a:pPr>
            <a:r>
              <a:rPr sz="6000" b="0">
                <a:solidFill>
                  <a:srgbClr val="000000"/>
                </a:solidFill>
              </a:rPr>
              <a:t>Marketing Science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0A5CD6-634A-4345-BC90-44DF9456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19650"/>
            <a:ext cx="742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000000"/>
                </a:solidFill>
              </a:defRPr>
            </a:pPr>
            <a:r>
              <a:rPr sz="2250" b="0">
                <a:solidFill>
                  <a:srgbClr val="000000"/>
                </a:solidFill>
              </a:rPr>
              <a:t>Marketing measurement and route sustainability for Canadian regional air routes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E7188A-BCC4-4664-887D-8E983F195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D7FEE1-2BED-4BEE-A0A4-4B5AF06A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626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6C"/>
                </a:solidFill>
              </a:defRPr>
            </a:pPr>
            <a:r>
              <a:rPr sz="1350" b="0">
                <a:solidFill>
                  <a:srgbClr val="5F666C"/>
                </a:solidFill>
              </a:rPr>
              <a:t>Portfolio case study | 2026</a:t>
            </a:r>
          </a:p>
        </p:txBody>
      </p:sp>
    </p:spTree>
    <p:extLst>
      <p:ext uri="{BB962C8B-B14F-4D97-AF65-F5344CB8AC3E}">
        <p14:creationId xmlns:p14="http://schemas.microsoft.com/office/powerpoint/2010/main" val="3785287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09E3715A-0AF1-4275-9146-573669A7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12776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0">
                <a:solidFill>
                  <a:srgbClr val="000000"/>
                </a:solidFill>
              </a:defRPr>
            </a:pPr>
            <a:r>
              <a:rPr sz="2850" b="0">
                <a:solidFill>
                  <a:srgbClr val="000000"/>
                </a:solidFill>
              </a:rPr>
              <a:t>The decision is route portfolio support, not channel attribution</a:t>
            </a:r>
          </a:p>
        </p:txBody>
      </p:sp>
      <p:sp>
        <p:nvSpPr>
          <p:cNvPr id="2" name="slide-2-subtitle">
            <a:extLst xmlns:a="http://schemas.openxmlformats.org/drawingml/2006/main">
              <a:ext uri="{FF2B5EF4-FFF2-40B4-BE49-F238E27FC236}">
                <a16:creationId xmlns:a16="http://schemas.microsoft.com/office/drawing/2014/main" id="{4F51B9DA-5EF3-4D95-9304-3155C94CA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954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66C"/>
                </a:solidFill>
              </a:defRPr>
            </a:pPr>
            <a:r>
              <a:rPr sz="1500" b="0">
                <a:solidFill>
                  <a:srgbClr val="5F666C"/>
                </a:solidFill>
              </a:rPr>
              <a:t>The model has to rank routes, allocate a fixed budget, and define how to validate before scaling.</a:t>
            </a:r>
          </a:p>
        </p:txBody>
      </p:sp>
      <p:sp>
        <p:nvSpPr>
          <p:cNvPr id="3" name="slide-2-footer">
            <a:extLst xmlns:a="http://schemas.openxmlformats.org/drawingml/2006/main">
              <a:ext uri="{FF2B5EF4-FFF2-40B4-BE49-F238E27FC236}">
                <a16:creationId xmlns:a16="http://schemas.microsoft.com/office/drawing/2014/main" id="{85CB9386-0A2F-4A55-B86F-CB6A3658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000000"/>
                </a:solidFill>
              </a:defRPr>
            </a:pPr>
            <a:r>
              <a:rPr sz="975" b="0">
                <a:solidFill>
                  <a:srgbClr val="000000"/>
                </a:solidFill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320759-7704-4C05-8E6B-F87EF83C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43100"/>
            <a:ext cx="51435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74F713-C141-4BC7-B2DA-F2247F549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098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Decision 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1187B7-E484-4478-B818-381A58515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4476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000000"/>
                </a:solidFill>
              </a:defRPr>
            </a:pPr>
            <a:r>
              <a:rPr sz="2025" b="0">
                <a:solidFill>
                  <a:srgbClr val="000000"/>
                </a:solidFill>
              </a:rPr>
              <a:t>Which regional air routes should receive incremental marketing investment, and how should a fixed budget be allocated to maximize sustainable demand?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4D0DEB-53CD-4156-8C19-2FC6960C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43100"/>
            <a:ext cx="49530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62A1FB-8ED0-4F90-BB37-5A77A79FF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0980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Operating constraints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6DAE52-F0AF-4104-AB27-83F32C600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876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6BFE9E-BA5E-4E09-8791-AD3385CE7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813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Route-level passengers and bookings are not publicly observed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16CAB8-F2E4-4AB9-A37A-29C0E354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337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B09AAE-36A7-48D9-A068-DF959774D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Marketing spend is simulated, so response is scenario-based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F08C79-B6F0-41B1-9A97-A64B1FEC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FDA5DC-732A-4626-83BC-6982BE4D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95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Inactive routes need capacity checks before media scaling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E0A9F9-6D1D-46DC-BBC5-826DF5BBE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48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204F18-6336-4108-A446-40666ABC5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529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Recommendations must feed test design, not just rankings</a:t>
            </a:r>
          </a:p>
        </p:txBody>
      </p:sp>
    </p:spTree>
    <p:extLst>
      <p:ext uri="{BB962C8B-B14F-4D97-AF65-F5344CB8AC3E}">
        <p14:creationId xmlns:p14="http://schemas.microsoft.com/office/powerpoint/2010/main" val="7248166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3C8CBD00-99EF-4162-8105-57536FCA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12776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0">
                <a:solidFill>
                  <a:srgbClr val="000000"/>
                </a:solidFill>
              </a:defRPr>
            </a:pPr>
            <a:r>
              <a:rPr sz="2850" b="0">
                <a:solidFill>
                  <a:srgbClr val="000000"/>
                </a:solidFill>
              </a:rPr>
              <a:t>The workflow turns public route evidence into a testable allocation</a:t>
            </a:r>
          </a:p>
        </p:txBody>
      </p:sp>
      <p:sp>
        <p:nvSpPr>
          <p:cNvPr id="2" name="slide-3-subtitle">
            <a:extLst xmlns:a="http://schemas.openxmlformats.org/drawingml/2006/main">
              <a:ext uri="{FF2B5EF4-FFF2-40B4-BE49-F238E27FC236}">
                <a16:creationId xmlns:a16="http://schemas.microsoft.com/office/drawing/2014/main" id="{A7D80BB5-8D2E-40EE-99B6-C827EC6F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954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66C"/>
                </a:solidFill>
              </a:defRPr>
            </a:pPr>
            <a:r>
              <a:rPr sz="1500" b="0">
                <a:solidFill>
                  <a:srgbClr val="5F666C"/>
                </a:solidFill>
              </a:rPr>
              <a:t>MMM-style response modeling is one component inside a broader route sustainability system.</a:t>
            </a:r>
          </a:p>
        </p:txBody>
      </p:sp>
      <p:sp>
        <p:nvSpPr>
          <p:cNvPr id="3" name="slide-3-footer">
            <a:extLst xmlns:a="http://schemas.openxmlformats.org/drawingml/2006/main">
              <a:ext uri="{FF2B5EF4-FFF2-40B4-BE49-F238E27FC236}">
                <a16:creationId xmlns:a16="http://schemas.microsoft.com/office/drawing/2014/main" id="{EBDB2F18-5B68-443D-B91C-D42D2D03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000000"/>
                </a:solidFill>
              </a:defRPr>
            </a:pPr>
            <a:r>
              <a:rPr sz="975" b="0">
                <a:solidFill>
                  <a:srgbClr val="000000"/>
                </a:solidFill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305A33-8D56-4DC4-8380-3AACF8600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31623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775E70-056B-4DA3-967F-39137A48C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28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A90CA2-227C-462E-926A-CEFD98BFB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2628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Root demand and supply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84836B-2BE7-48DF-B8B4-284650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2647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6C"/>
                </a:solidFill>
              </a:defRPr>
            </a:pPr>
            <a:r>
              <a:rPr sz="1425" b="0">
                <a:solidFill>
                  <a:srgbClr val="5F666C"/>
                </a:solidFill>
              </a:rPr>
              <a:t>Airport context, route-active evidence, movement proxies, hub competition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DDD828-CBD2-4FCA-AF25-37E9C5BB5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9090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BD8AA5-FCFD-4FD7-881D-6E5C795E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38350"/>
            <a:ext cx="31623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6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E2EAF5-43FE-42BB-AC89-150D8250C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228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58DB67-9DAB-4F87-877B-10EC97B7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57500"/>
            <a:ext cx="2628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Marketing response module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B93F9B-B3AE-45CA-A270-6E97E31C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714750"/>
            <a:ext cx="2647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6C"/>
                </a:solidFill>
              </a:defRPr>
            </a:pPr>
            <a:r>
              <a:rPr sz="1425" b="0">
                <a:solidFill>
                  <a:srgbClr val="5F666C"/>
                </a:solidFill>
              </a:rPr>
              <a:t>Scenario curves, adstock/saturation structure, recovery sensitivity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AE70A6-AB87-4A96-AF41-4D03D9003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39090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CCF39E-9B28-4191-8021-9E00AF91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38350"/>
            <a:ext cx="31623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954BAC-BB76-427D-ACD1-2E28CB5C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28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90EBEA-10B8-4F13-9F20-C74E864E8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857500"/>
            <a:ext cx="2628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Optimization and validation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684C1A-75B9-4183-8D58-70D74CA51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714750"/>
            <a:ext cx="2647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6C"/>
                </a:solidFill>
              </a:defRPr>
            </a:pPr>
            <a:r>
              <a:rPr sz="1425" b="0">
                <a:solidFill>
                  <a:srgbClr val="5F666C"/>
                </a:solidFill>
              </a:rPr>
              <a:t>Constrained budget allocation, matched-route tests, scale / maintain / stop rules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5E2A3B-C3BC-4EF1-9C4E-FD6A51B8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Result: a planning system that can recommend where to spend and what evidence is required next.</a:t>
            </a:r>
          </a:p>
        </p:txBody>
      </p:sp>
    </p:spTree>
    <p:extLst>
      <p:ext uri="{BB962C8B-B14F-4D97-AF65-F5344CB8AC3E}">
        <p14:creationId xmlns:p14="http://schemas.microsoft.com/office/powerpoint/2010/main" val="7615644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539D5F8E-3D28-4EFA-B99C-5F4418F4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12776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0">
                <a:solidFill>
                  <a:srgbClr val="000000"/>
                </a:solidFill>
              </a:defRPr>
            </a:pPr>
            <a:r>
              <a:rPr sz="2850" b="0">
                <a:solidFill>
                  <a:srgbClr val="000000"/>
                </a:solidFill>
              </a:rPr>
              <a:t>Opportunity scoring separates active scale bets from relaunch feasibility</a:t>
            </a:r>
          </a:p>
        </p:txBody>
      </p:sp>
      <p:sp>
        <p:nvSpPr>
          <p:cNvPr id="2" name="slide-4-subtitle">
            <a:extLst xmlns:a="http://schemas.openxmlformats.org/drawingml/2006/main">
              <a:ext uri="{FF2B5EF4-FFF2-40B4-BE49-F238E27FC236}">
                <a16:creationId xmlns:a16="http://schemas.microsoft.com/office/drawing/2014/main" id="{E2C9CE98-4C58-40A7-9F10-45B0CC51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954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66C"/>
                </a:solidFill>
              </a:defRPr>
            </a:pPr>
            <a:r>
              <a:rPr sz="1500" b="0">
                <a:solidFill>
                  <a:srgbClr val="5F666C"/>
                </a:solidFill>
              </a:rPr>
              <a:t>The highest-priority route is not automatically a media-scale route when service is inactive.</a:t>
            </a:r>
          </a:p>
        </p:txBody>
      </p:sp>
      <p:sp>
        <p:nvSpPr>
          <p:cNvPr id="3" name="slide-4-footer">
            <a:extLst xmlns:a="http://schemas.openxmlformats.org/drawingml/2006/main">
              <a:ext uri="{FF2B5EF4-FFF2-40B4-BE49-F238E27FC236}">
                <a16:creationId xmlns:a16="http://schemas.microsoft.com/office/drawing/2014/main" id="{EB0AA2C0-BF72-4561-B3B5-5390A477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000000"/>
                </a:solidFill>
              </a:defRPr>
            </a:pPr>
            <a:r>
              <a:rPr sz="975" b="0">
                <a:solidFill>
                  <a:srgbClr val="000000"/>
                </a:solidFill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59157A-EDAD-4925-8574-7668BF7C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62150"/>
            <a:ext cx="5619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0A7640-5A5B-43D2-B89D-FA07B57B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62150"/>
            <a:ext cx="5619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014FDB-B589-4DB8-891B-43A94852B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62150"/>
            <a:ext cx="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907986-69A0-4E0B-A796-A8D258D9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962150"/>
            <a:ext cx="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CAD3D2-CB7F-4774-BF03-4F5F86E4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962150"/>
            <a:ext cx="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667B14-448E-46F6-AC7F-9B25722A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962150"/>
            <a:ext cx="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18DF35-D2AC-4334-903F-D4885D97E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962150"/>
            <a:ext cx="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5FAD9E-1329-40D7-9A4D-459C74165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962150"/>
            <a:ext cx="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08CC8D-888A-45B0-A8D8-9C59DC490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43150"/>
            <a:ext cx="561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68BFD4-F16A-47A5-AAE6-323EAF155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62250"/>
            <a:ext cx="561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257164-CC83-4BC8-A965-D8759BA9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561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140E53-5BB3-4312-86B4-73AE5351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00450"/>
            <a:ext cx="561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7BB973-286D-4422-B70E-028C4205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19550"/>
            <a:ext cx="561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713DF1-331A-426D-9175-57A4F45E6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38650"/>
            <a:ext cx="561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7848F2-3B15-4CAE-985D-D5104FEF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Route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7D8FD9-3E8B-4A57-999E-3CE24A3D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047875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CC3C9A-E6CC-41EB-AC1B-9D605BFD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0478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Prio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31BFCD-B61B-4631-9832-EF69C1604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047875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Sustain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9E1BB8-7420-44DE-BF14-AD50190C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0478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4FD50B-5FE8-4AA1-BCCD-1DECE7900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19350"/>
            <a:ext cx="914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YKF-YVR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309DA6-60FE-4DB9-8C84-59E251B5B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419350"/>
            <a:ext cx="838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inactive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1DE82F-FE44-4B8C-902F-7487B5252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41935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81.9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9C104E-143C-489E-BC18-D496A5934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419350"/>
            <a:ext cx="60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76.7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0F4136-3AC2-4107-80F1-A667B3A0A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4193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Capacity-gated relaunch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2E851F-6738-453D-94AB-656F8BDFD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38450"/>
            <a:ext cx="914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YKF-YEG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FD42FA-2920-46C9-8419-71F945F9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838450"/>
            <a:ext cx="838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active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F38BF7-6287-4235-9400-CBD129AD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83845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71.6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A567E6-6F57-4E3D-B5E2-A4F2C867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838450"/>
            <a:ext cx="60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73.3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D79F7A-726B-4233-BFAD-E106FB69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8384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Scale / defend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0DC3A8-FEE0-4486-AB36-3C0D560DF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57550"/>
            <a:ext cx="914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YKF-YYC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0D2B89-F2C7-42C5-9831-1CC411D02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57550"/>
            <a:ext cx="838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active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16F73F-4482-4707-B1D4-76783163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25755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68.1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7328956-0033-482E-9A27-8B8D7907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257550"/>
            <a:ext cx="60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76.3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BAAE032-1959-4BCC-9DDE-6D31E4B4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2575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Test and learn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196678E-8E4D-4247-AF8D-762FB065A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76650"/>
            <a:ext cx="914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YXU-YVR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407AA2-110A-4F17-BD94-B4E56FCC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676650"/>
            <a:ext cx="838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inactive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C559121-D9BC-4817-B329-2D375057F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7665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67.4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D578606-274A-4DAA-B8AB-9BA1E46C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676650"/>
            <a:ext cx="60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68.8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6613269-7E99-461B-B7A8-2AA2017F5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6766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Capacity-gated relaunch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9BBFA03-AE17-4A22-9170-B5569F137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95750"/>
            <a:ext cx="914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YXX-YYC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1C3D4B-EEBD-4B9F-B0AD-E878332DF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095750"/>
            <a:ext cx="838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active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9463949-F43E-400D-A569-3387A518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65.9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E640392-57C7-4F74-B90F-1E887B17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095750"/>
            <a:ext cx="60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77.5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D4D0498-BA4C-4BB2-B698-02061277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0957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Test and learn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A666674-F308-427D-9016-123452804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809750"/>
            <a:ext cx="4572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1F0B4AF-44B8-458D-8746-F8E5686F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981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Funded route network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C98B8A5-F9A7-4DA4-B368-AD67DB6C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718373" y="2495836"/>
            <a:ext cx="2073639" cy="190769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7C7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3EAFB06-5E69-438D-858C-FA3230E8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691516" y="2919984"/>
            <a:ext cx="2100497" cy="1483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7C70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A82D08A-8CB9-4D5E-96C5-AA17C7CDF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118766" y="3293777"/>
            <a:ext cx="2673246" cy="110975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842B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D56D2A5-C27B-433D-BB07-B7B706B5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691516" y="2919984"/>
            <a:ext cx="2052403" cy="156683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7C70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D221BE2-31DA-4AA4-8BC4-374FD282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169983" y="2919984"/>
            <a:ext cx="521533" cy="4047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27C7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BA54974-B89F-4165-B6C4-E9E7A9C5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169983" y="2495836"/>
            <a:ext cx="548390" cy="8289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AE78204-ECFE-47D1-8E1A-4E1D51F2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118766" y="3144647"/>
            <a:ext cx="237344" cy="14913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96B3F4A-3E12-4E25-B241-B2CFCC8A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862" y="434638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C2AA997-A4C9-4502-AF16-A792760B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8212" y="429876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0000"/>
                </a:solidFill>
              </a:defRPr>
            </a:pPr>
            <a:r>
              <a:rPr sz="900" b="1">
                <a:solidFill>
                  <a:srgbClr val="000000"/>
                </a:solidFill>
              </a:rPr>
              <a:t>YKF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8F14FB3-3934-4FAE-895C-A06E8E05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223" y="2438686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48C4741-DBB6-4401-B1DF-3CF621AB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573" y="2391061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0000"/>
                </a:solidFill>
              </a:defRPr>
            </a:pPr>
            <a:r>
              <a:rPr sz="900" b="1">
                <a:solidFill>
                  <a:srgbClr val="000000"/>
                </a:solidFill>
              </a:rPr>
              <a:t>YEG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C7A4AA3-CA36-4AD9-9F19-25738F14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4366" y="2862834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76AE509-9BFB-4EE2-A539-D8DB7A115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7716" y="2815209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0000"/>
                </a:solidFill>
              </a:defRPr>
            </a:pPr>
            <a:r>
              <a:rPr sz="900" b="1">
                <a:solidFill>
                  <a:srgbClr val="000000"/>
                </a:solidFill>
              </a:rPr>
              <a:t>YYC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5DB967E-A21C-4D60-90A3-CB0B0364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1616" y="3236627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566F25C-49AC-41FF-B550-E65C0550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4966" y="3189002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0000"/>
                </a:solidFill>
              </a:defRPr>
            </a:pPr>
            <a:r>
              <a:rPr sz="900" b="1">
                <a:solidFill>
                  <a:srgbClr val="000000"/>
                </a:solidFill>
              </a:rPr>
              <a:t>YVR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06AFAB0-F5E4-4FCF-AE96-9E1C7572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769" y="442966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2FE8534-93D8-4395-BB1B-C911E545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119" y="438204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0000"/>
                </a:solidFill>
              </a:defRPr>
            </a:pPr>
            <a:r>
              <a:rPr sz="900" b="1">
                <a:solidFill>
                  <a:srgbClr val="000000"/>
                </a:solidFill>
              </a:rPr>
              <a:t>YXU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BC6F923-9EFF-469A-A701-33B3C990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833" y="326761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9AC2323-DD0C-406C-A194-6646AD358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6183" y="321999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0000"/>
                </a:solidFill>
              </a:defRPr>
            </a:pPr>
            <a:r>
              <a:rPr sz="900" b="1">
                <a:solidFill>
                  <a:srgbClr val="000000"/>
                </a:solidFill>
              </a:rPr>
              <a:t>YXX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7D07804-096D-405A-BBB7-31B5CA428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8961" y="3087497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C02A4B5-C3D4-4CF3-952D-A4FEDB70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2311" y="3039872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00000"/>
                </a:solidFill>
              </a:defRPr>
            </a:pPr>
            <a:r>
              <a:rPr sz="900" b="1">
                <a:solidFill>
                  <a:srgbClr val="000000"/>
                </a:solidFill>
              </a:rPr>
              <a:t>YLW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9F19185-7863-47A9-AFF9-9AB6577E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959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</a:defRPr>
            </a:pPr>
            <a:r>
              <a:rPr sz="1575" b="1">
                <a:solidFill>
                  <a:srgbClr val="000000"/>
                </a:solidFill>
              </a:rPr>
              <a:t>YKF_YVR ranks high but remains a capacity-gated relaunch candidate because the end-of-period route status is inactive.</a:t>
            </a:r>
          </a:p>
        </p:txBody>
      </p:sp>
    </p:spTree>
    <p:extLst>
      <p:ext uri="{BB962C8B-B14F-4D97-AF65-F5344CB8AC3E}">
        <p14:creationId xmlns:p14="http://schemas.microsoft.com/office/powerpoint/2010/main" val="1575897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C3634FEA-2B48-45FD-9D31-2F7CE1F3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12776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0">
                <a:solidFill>
                  <a:srgbClr val="000000"/>
                </a:solidFill>
              </a:defRPr>
            </a:pPr>
            <a:r>
              <a:rPr sz="2850" b="0">
                <a:solidFill>
                  <a:srgbClr val="000000"/>
                </a:solidFill>
              </a:rPr>
              <a:t>Sensitivity analysis keeps simulated marketing honest</a:t>
            </a:r>
          </a:p>
        </p:txBody>
      </p:sp>
      <p:sp>
        <p:nvSpPr>
          <p:cNvPr id="2" name="slide-5-subtitle">
            <a:extLst xmlns:a="http://schemas.openxmlformats.org/drawingml/2006/main">
              <a:ext uri="{FF2B5EF4-FFF2-40B4-BE49-F238E27FC236}">
                <a16:creationId xmlns:a16="http://schemas.microsoft.com/office/drawing/2014/main" id="{097A4488-1455-4DED-89E7-1EFEA0ED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954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66C"/>
                </a:solidFill>
              </a:defRPr>
            </a:pPr>
            <a:r>
              <a:rPr sz="1500" b="0">
                <a:solidFill>
                  <a:srgbClr val="5F666C"/>
                </a:solidFill>
              </a:rPr>
              <a:t>Budget direction is more stable than exact channel ranking under simulated spend mechanisms.</a:t>
            </a:r>
          </a:p>
        </p:txBody>
      </p:sp>
      <p:sp>
        <p:nvSpPr>
          <p:cNvPr id="3" name="slide-5-footer">
            <a:extLst xmlns:a="http://schemas.openxmlformats.org/drawingml/2006/main">
              <a:ext uri="{FF2B5EF4-FFF2-40B4-BE49-F238E27FC236}">
                <a16:creationId xmlns:a16="http://schemas.microsoft.com/office/drawing/2014/main" id="{C24C5950-29F7-4036-8495-DBFE59CB2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000000"/>
                </a:solidFill>
              </a:defRPr>
            </a:pPr>
            <a:r>
              <a:rPr sz="975" b="0">
                <a:solidFill>
                  <a:srgbClr val="000000"/>
                </a:solidFill>
              </a:rPr>
              <a:t>5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495300" y="1676400"/>
          <a:ext xmlns:a="http://schemas.openxmlformats.org/drawingml/2006/main" cx="68580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9954dd4d04549e9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974AA8-A2D3-45F8-A865-EF20820B2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809750"/>
            <a:ext cx="3238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DA41E3-1D94-42C4-92F5-DFB286EF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38350"/>
            <a:ext cx="1257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3D8DFF"/>
                </a:solidFill>
              </a:defRPr>
            </a:pPr>
            <a:r>
              <a:rPr sz="2700" b="1">
                <a:solidFill>
                  <a:srgbClr val="3D8DFF"/>
                </a:solidFill>
              </a:rPr>
              <a:t>58%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C368C2-764B-4D2E-9879-6C5DDC02C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76450"/>
            <a:ext cx="1371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6C"/>
                </a:solidFill>
              </a:defRPr>
            </a:pPr>
            <a:r>
              <a:rPr sz="1275" b="0">
                <a:solidFill>
                  <a:srgbClr val="5F666C"/>
                </a:solidFill>
              </a:rPr>
              <a:t>Top-channel recovery for controlled saturation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B19D89-A5A2-4006-9CED-B7079B3B3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81350"/>
            <a:ext cx="3238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3666C9-6951-4374-ACAD-9C7EAB6AD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09950"/>
            <a:ext cx="1257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8%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2CC0FC-DD82-4563-9BCC-56892011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448050"/>
            <a:ext cx="1371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6C"/>
                </a:solidFill>
              </a:defRPr>
            </a:pPr>
            <a:r>
              <a:rPr sz="1275" b="0">
                <a:solidFill>
                  <a:srgbClr val="5F666C"/>
                </a:solidFill>
              </a:rPr>
              <a:t>Top-channel recovery for naive raw-spend ranking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49A5CD-63FA-42BE-A52E-02987E9A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895850"/>
            <a:ext cx="323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The right claim is directional planning support, not observed causal channel ROI.</a:t>
            </a:r>
          </a:p>
        </p:txBody>
      </p:sp>
    </p:spTree>
    <p:extLst>
      <p:ext uri="{BB962C8B-B14F-4D97-AF65-F5344CB8AC3E}">
        <p14:creationId xmlns:p14="http://schemas.microsoft.com/office/powerpoint/2010/main" val="16356140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03BD7BCF-CEDC-4267-89CE-17146B79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12776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0">
                <a:solidFill>
                  <a:srgbClr val="000000"/>
                </a:solidFill>
              </a:defRPr>
            </a:pPr>
            <a:r>
              <a:rPr sz="2850" b="0">
                <a:solidFill>
                  <a:srgbClr val="000000"/>
                </a:solidFill>
              </a:rPr>
              <a:t>A CAD 500K portfolio funds seven routes with one capacity-gated relaunch</a:t>
            </a:r>
          </a:p>
        </p:txBody>
      </p:sp>
      <p:sp>
        <p:nvSpPr>
          <p:cNvPr id="2" name="slide-6-subtitle">
            <a:extLst xmlns:a="http://schemas.openxmlformats.org/drawingml/2006/main">
              <a:ext uri="{FF2B5EF4-FFF2-40B4-BE49-F238E27FC236}">
                <a16:creationId xmlns:a16="http://schemas.microsoft.com/office/drawing/2014/main" id="{B8AC3867-A9F3-4981-AB47-F5D83FFA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954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66C"/>
                </a:solidFill>
              </a:defRPr>
            </a:pPr>
            <a:r>
              <a:rPr sz="1500" b="0">
                <a:solidFill>
                  <a:srgbClr val="5F666C"/>
                </a:solidFill>
              </a:rPr>
              <a:t>The recommended case balances route-health lift, passenger proxy, and strategic priority.</a:t>
            </a:r>
          </a:p>
        </p:txBody>
      </p:sp>
      <p:sp>
        <p:nvSpPr>
          <p:cNvPr id="3" name="slide-6-footer">
            <a:extLst xmlns:a="http://schemas.openxmlformats.org/drawingml/2006/main">
              <a:ext uri="{FF2B5EF4-FFF2-40B4-BE49-F238E27FC236}">
                <a16:creationId xmlns:a16="http://schemas.microsoft.com/office/drawing/2014/main" id="{05CD85F1-0515-4F99-BC7C-37892085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000000"/>
                </a:solidFill>
              </a:defRPr>
            </a:pPr>
            <a:r>
              <a:rPr sz="975" b="0">
                <a:solidFill>
                  <a:srgbClr val="000000"/>
                </a:solidFill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D08259-2FDF-48CF-9A53-DE2ADB7F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D43FBA-F1EF-4CE7-91B8-D725B3AC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1962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CAD 500K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AC68CE-630E-4D6A-A5D8-2E010518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66C"/>
                </a:solidFill>
              </a:defRPr>
            </a:pPr>
            <a:r>
              <a:rPr sz="1200" b="0">
                <a:solidFill>
                  <a:srgbClr val="5F666C"/>
                </a:solidFill>
              </a:rPr>
              <a:t>Total budget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B026B2-80B2-49C5-A9E8-42CCE4165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90700"/>
            <a:ext cx="2000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D4703B-7A2C-4CE7-BFBB-C88645A4B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0025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015B5A-FB03-4E87-AB44-55C80F86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457450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66C"/>
                </a:solidFill>
              </a:defRPr>
            </a:pPr>
            <a:r>
              <a:rPr sz="1200" b="0">
                <a:solidFill>
                  <a:srgbClr val="5F666C"/>
                </a:solidFill>
              </a:rPr>
              <a:t>Funded routes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F559C2-E892-47E3-B140-19157229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90700"/>
            <a:ext cx="266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4DB35E-14D0-4261-840B-53DDB3F3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000250"/>
            <a:ext cx="224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D8DFF"/>
                </a:solidFill>
              </a:defRPr>
            </a:pPr>
            <a:r>
              <a:rPr sz="2550" b="1">
                <a:solidFill>
                  <a:srgbClr val="3D8DFF"/>
                </a:solidFill>
              </a:rPr>
              <a:t>16,936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7BD2CF-81A2-47F3-9D14-29297037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45745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66C"/>
                </a:solidFill>
              </a:defRPr>
            </a:pPr>
            <a:r>
              <a:rPr sz="1200" b="0">
                <a:solidFill>
                  <a:srgbClr val="5F666C"/>
                </a:solidFill>
              </a:rPr>
              <a:t>Incremental passenger proxy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8845CB-E14B-43DB-AA6B-F8DEAC21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790700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220A9A-2279-4ED4-89AF-0E2A64DD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00250"/>
            <a:ext cx="1962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D8DFF"/>
                </a:solidFill>
              </a:defRPr>
            </a:pPr>
            <a:r>
              <a:rPr sz="2550" b="1">
                <a:solidFill>
                  <a:srgbClr val="3D8DFF"/>
                </a:solidFill>
              </a:rPr>
              <a:t>22.2 pts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51B0FB-C8B2-4FCE-AACE-85880558C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5745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66C"/>
                </a:solidFill>
              </a:defRPr>
            </a:pPr>
            <a:r>
              <a:rPr sz="1200" b="0">
                <a:solidFill>
                  <a:srgbClr val="5F666C"/>
                </a:solidFill>
              </a:rPr>
              <a:t>Route-health lift</a:t>
            </a:r>
          </a:p>
        </p:txBody>
      </p:sp>
      <p:graphicFrame>
        <p:nvGraphicFramePr>
          <p:cNvPr id="70" name="Chart"/>
          <p:cNvGraphicFramePr/>
          <p:nvPr/>
        </p:nvGraphicFramePr>
        <p:xfrm>
          <a:off xmlns:a="http://schemas.openxmlformats.org/drawingml/2006/main" x="552450" y="3352800"/>
          <a:ext xmlns:a="http://schemas.openxmlformats.org/drawingml/2006/main" cx="6762750" cy="25336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b6bf132e9643d6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5B8090-F97D-4201-876D-485ACB2AA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38500"/>
            <a:ext cx="3371850" cy="2495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9C709C-1498-41EB-A79C-76009A89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38500"/>
            <a:ext cx="3371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4A89F9-19F9-40BB-8159-221BE7090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38500"/>
            <a:ext cx="0" cy="2495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625C07-55C6-4F43-97EE-8A86751A0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38500"/>
            <a:ext cx="0" cy="2495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002A77-D950-43F9-A3D6-92ACD089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238500"/>
            <a:ext cx="0" cy="2495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D84914-E83F-4D58-9EE0-289636FE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3238500"/>
            <a:ext cx="0" cy="2495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8D0459-8E76-4768-AF70-AB7F51603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004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824ABF-880E-49EA-B6FE-9218A675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052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B27831-C5B6-44D7-8700-7AC47FE7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00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1A50B1-2FCF-43A4-896B-DA276537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5148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BE424A-F2CD-49AD-BDE9-E3E5F214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196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4B2202-894B-4D7E-AC7B-732D320F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1244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EF6CC8-F5B5-496E-AF3B-524A39680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292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A973DE-5FBD-4729-8016-23BF839C3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7340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086171-7456-4E26-951D-C1AD6E8B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242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Route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210C234-6F27-4DC7-A0A5-EEC33AB3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24225"/>
            <a:ext cx="628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Budget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F245C1-300D-4039-955F-8B83706F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324225"/>
            <a:ext cx="1447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Bucket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049492-984A-4F35-96F4-CC73D704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67665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YKF-YEG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9C0DDE-8C57-4969-AD0B-A3C08E07F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7665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100K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E08BD7-E766-4D3F-9912-F82128AF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676650"/>
            <a:ext cx="144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scale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DA62E95-F2AF-408F-847C-884F26D64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8145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YKF-YYC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BF83F0D-3A37-4144-AE38-56D217E02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98145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100K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B7A901C-E476-40D0-82D5-239C16402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981450"/>
            <a:ext cx="144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test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CC3491D-3D1D-4FC3-A03D-19DB8CD6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8625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YKF-YVR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DF50318-69A1-4D47-AA6C-9BC84908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28625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75K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CF76BA0-1767-4794-8C2C-D818F618A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286250"/>
            <a:ext cx="144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relaunch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3796998-76C0-48A8-991C-23E7E01B6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59105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YXU-YYC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4683DD2-67A7-41B4-B165-273FA45C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75K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398B9C2-413F-4594-971E-ADB4204D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591050"/>
            <a:ext cx="144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test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00BE69C-B1FC-47EB-B7B8-23BA290B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89585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YXX-YYC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199E508-8C32-4928-BC35-89DA7E134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89585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75K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B97BCDF-9335-4676-92D3-C1B9A7437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895850"/>
            <a:ext cx="144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test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F0E0EBC-9961-42C3-A9D0-387ADA1B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20065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YXX-YEG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5F519E6-0FD1-4A2A-BED8-16B3BEE88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20065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50K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1B5E739-F9B3-46FC-B822-C897CD59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200650"/>
            <a:ext cx="144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maintain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CCA3A85-A966-4BB0-B75F-51CA0B96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505450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YLW-YVR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C7DFE27-38D3-46EA-A122-EC575E83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50545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25K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A39BEBA-F884-41A3-89B3-F41E64735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505450"/>
            <a:ext cx="144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maintain</a:t>
            </a:r>
          </a:p>
        </p:txBody>
      </p:sp>
    </p:spTree>
    <p:extLst>
      <p:ext uri="{BB962C8B-B14F-4D97-AF65-F5344CB8AC3E}">
        <p14:creationId xmlns:p14="http://schemas.microsoft.com/office/powerpoint/2010/main" val="12979387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F0B1E1F5-A5C2-4D0E-A90F-ABBFADE2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12776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0">
                <a:solidFill>
                  <a:srgbClr val="000000"/>
                </a:solidFill>
              </a:defRPr>
            </a:pPr>
            <a:r>
              <a:rPr sz="2850" b="0">
                <a:solidFill>
                  <a:srgbClr val="000000"/>
                </a:solidFill>
              </a:rPr>
              <a:t>Every recommendation is tied to a validation design</a:t>
            </a:r>
          </a:p>
        </p:txBody>
      </p:sp>
      <p:sp>
        <p:nvSpPr>
          <p:cNvPr id="2" name="slide-7-subtitle">
            <a:extLst xmlns:a="http://schemas.openxmlformats.org/drawingml/2006/main">
              <a:ext uri="{FF2B5EF4-FFF2-40B4-BE49-F238E27FC236}">
                <a16:creationId xmlns:a16="http://schemas.microsoft.com/office/drawing/2014/main" id="{1493642A-B057-4845-91C5-FCD2F365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954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66C"/>
                </a:solidFill>
              </a:defRPr>
            </a:pPr>
            <a:r>
              <a:rPr sz="1500" b="0">
                <a:solidFill>
                  <a:srgbClr val="5F666C"/>
                </a:solidFill>
              </a:rPr>
              <a:t>The output is a test plan with matched controls, not a direct instruction to scale spend immediately.</a:t>
            </a:r>
          </a:p>
        </p:txBody>
      </p:sp>
      <p:sp>
        <p:nvSpPr>
          <p:cNvPr id="3" name="slide-7-footer">
            <a:extLst xmlns:a="http://schemas.openxmlformats.org/drawingml/2006/main">
              <a:ext uri="{FF2B5EF4-FFF2-40B4-BE49-F238E27FC236}">
                <a16:creationId xmlns:a16="http://schemas.microsoft.com/office/drawing/2014/main" id="{4B009002-6978-41DF-9175-511454B9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000000"/>
                </a:solidFill>
              </a:defRPr>
            </a:pPr>
            <a:r>
              <a:rPr sz="975" b="0">
                <a:solidFill>
                  <a:srgbClr val="000000"/>
                </a:solidFill>
              </a:rPr>
              <a:t>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F2717F-8F05-42E2-80D3-E59AB7B82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0250"/>
            <a:ext cx="10572750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8C8E11-BE42-4AC2-863E-B79E2D295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0250"/>
            <a:ext cx="10572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C83A8D-E48D-4B94-B7EF-EA50E0DF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0250"/>
            <a:ext cx="0" cy="2990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6DC3FA-4AC5-45F7-A15E-9BCFDBAC6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000250"/>
            <a:ext cx="0" cy="2990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3AF648-56CB-4ED7-83EB-9362056B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0" cy="2990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AAD4B4-3A32-4983-B526-326482DC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00250"/>
            <a:ext cx="0" cy="2990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3EA160-3CF3-4356-A453-AF3C7B50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000250"/>
            <a:ext cx="0" cy="2990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02AD43-D1EF-41E0-BDCD-6F9BC32F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0030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865638-DC19-4AD6-9173-BED5B39C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3248C1-3116-4EFB-B3D1-939C5419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9570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48AB7F-3FD4-4FDA-9F64-1479A89B1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4340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B1A039-5448-4A49-B384-D1041EFE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9110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E74B9B-0C1B-4C99-8A80-8ED40B034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85975"/>
            <a:ext cx="1447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Group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5DA1F9-C60D-4D52-A271-E1E8F2B3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085975"/>
            <a:ext cx="2209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Routes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20324C-F970-4B31-A198-9D0E1C3F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85975"/>
            <a:ext cx="1943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Design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8B124B-5738-4567-8599-79156875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85975"/>
            <a:ext cx="436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Decision rule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B5DE66-2E6C-430B-8C51-FA351EA4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76500"/>
            <a:ext cx="1447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Scale / defend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66DE53-1106-403D-9FAF-BDFA8039A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476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YKF-YEG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1AC37C-F17C-40E7-BB84-9A90BAFE5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76500"/>
            <a:ext cx="194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matched geo lift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DFA678-7C23-4422-B24F-ADD58C1E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476500"/>
            <a:ext cx="436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Scale only if lift clears target and guardrails hold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4F9FCB-3FC5-47BE-B12E-2CF05F6E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24200"/>
            <a:ext cx="1447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Test and learn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F165BD-D671-489D-A7BC-65282C76F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1242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YKF-YYC, YXU-YYC, YXX-YYC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ED4E05-A651-48DC-B77B-57B72BA9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24200"/>
            <a:ext cx="194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matched geo lift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850A45-2287-4FBA-B881-7813D961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24200"/>
            <a:ext cx="436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Pool similar routes or extend window where power is directional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E9D044-B88D-4D22-8489-DD2097F9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71900"/>
            <a:ext cx="1447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Relaunch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D61F45-9A9F-4D49-8D3A-F0C0E09C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7719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YKF-YVR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A25C40-E784-467F-89F3-47C1FFB5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71900"/>
            <a:ext cx="194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capacity gate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C42376-C7F8-4B9E-8EB2-6E738901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771900"/>
            <a:ext cx="436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Advance only with qualified demand and capacity interest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32C8E1-69B7-4421-A5CE-043322A6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19600"/>
            <a:ext cx="1447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Maintain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D11290-8263-4C19-BBF1-FACA96295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4196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YXX-YEG, YLW-YVR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6BD5D3-2EE1-4DF7-A947-5E6FEC2D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419600"/>
            <a:ext cx="1943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guardrail test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BA4115-0CC2-4CF4-80AD-918DD24E5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419600"/>
            <a:ext cx="436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Keep spend capped unless leakage or retention signal improves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F261DA-1AA0-4588-A617-7D9A8F3D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0"/>
            <a:ext cx="1057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1EE7BA-7202-4A46-96C9-F60EB529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62600"/>
            <a:ext cx="9867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Active routes use matched-route or geo-lift designs; relaunch routes require capacity-gated feasibility before passenger lift claims.</a:t>
            </a:r>
          </a:p>
        </p:txBody>
      </p:sp>
    </p:spTree>
    <p:extLst>
      <p:ext uri="{BB962C8B-B14F-4D97-AF65-F5344CB8AC3E}">
        <p14:creationId xmlns:p14="http://schemas.microsoft.com/office/powerpoint/2010/main" val="4410612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48CFE401-F005-48A8-99B1-D53B9D97F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112776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0">
                <a:solidFill>
                  <a:srgbClr val="000000"/>
                </a:solidFill>
              </a:defRPr>
            </a:pPr>
            <a:r>
              <a:rPr sz="2850" b="0">
                <a:solidFill>
                  <a:srgbClr val="000000"/>
                </a:solidFill>
              </a:rPr>
              <a:t>Meridian is the future MMM component, not a claim in this prototype</a:t>
            </a:r>
          </a:p>
        </p:txBody>
      </p:sp>
      <p:sp>
        <p:nvSpPr>
          <p:cNvPr id="2" name="slide-8-subtitle">
            <a:extLst xmlns:a="http://schemas.openxmlformats.org/drawingml/2006/main">
              <a:ext uri="{FF2B5EF4-FFF2-40B4-BE49-F238E27FC236}">
                <a16:creationId xmlns:a16="http://schemas.microsoft.com/office/drawing/2014/main" id="{FDDACC0E-DD57-40E0-9719-EF51C800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954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66C"/>
                </a:solidFill>
              </a:defRPr>
            </a:pPr>
            <a:r>
              <a:rPr sz="1500" b="0">
                <a:solidFill>
                  <a:srgbClr val="5F666C"/>
                </a:solidFill>
              </a:rPr>
              <a:t>The production path is clear, but the current public-data prototype intentionally avoids false causal precision.</a:t>
            </a:r>
          </a:p>
        </p:txBody>
      </p:sp>
      <p:sp>
        <p:nvSpPr>
          <p:cNvPr id="3" name="slide-8-footer">
            <a:extLst xmlns:a="http://schemas.openxmlformats.org/drawingml/2006/main">
              <a:ext uri="{FF2B5EF4-FFF2-40B4-BE49-F238E27FC236}">
                <a16:creationId xmlns:a16="http://schemas.microsoft.com/office/drawing/2014/main" id="{AE5583A9-4F6A-4845-8ED9-7B626AB5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000000"/>
                </a:solidFill>
              </a:defRPr>
            </a:pPr>
            <a:r>
              <a:rPr sz="975" b="0">
                <a:solidFill>
                  <a:srgbClr val="000000"/>
                </a:solidFill>
              </a:rPr>
              <a:t>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81FAD2-3B92-4737-B48F-FFB9DCA1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62150"/>
            <a:ext cx="47625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B4F3A0-5396-4CB4-BD88-910536A4A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Current prototype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F109EC-9DA2-41F7-A3A4-6C5483909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95C748-46F1-4625-B9D5-F3F0C533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146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Route-month panel from public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89FDE9-1612-40EC-8F76-F28E1386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09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1B0B00-8102-4F80-BC15-0C190AE9F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147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Scenario response curves, not observed channel ROI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3706B6-B34B-49BE-B570-42206C4D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10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5C9036-3687-4DAE-A1A6-ABA6E981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147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Sensitivity analysis to expose recovery limits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5B3312-72DC-41E3-B907-BA9BF8C1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00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C8CB97-D0A4-4BDC-97C9-9E3D75D0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148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Budget optimizer and experiment design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ECE87A-7151-4A7E-A138-02874277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62150"/>
            <a:ext cx="47625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6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E19E3F-3BEA-4B87-8DAF-17FB8627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66950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Future production version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451C70-E4E6-48E5-B05E-FCCF8C9C7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09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AC40A2-F9B9-4E26-A658-A1B6D5A7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146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BigQuery stores route, spend, and outcome data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388698-27CA-4015-B4EF-9259A313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09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5226FC-A8D1-4AEF-BCAA-43FF3BFD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3147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Vertex AI Pipelines rebuild and compare models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FF2A2B-7F08-42F3-AC17-3AC266B6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10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2ACE36-FA9B-4CE3-ABDA-0E1DE5AA8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147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Meridian estimates MMM response and ROI/mROI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EE4436-C5BC-4F55-89D8-DAAB3630F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00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AC4F9E-F8C0-4AA6-B6A2-A577E6E0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Looker or dashboard exports planning outputs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170BB7-9DEB-4EDB-AD27-64381399F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53050"/>
            <a:ext cx="1000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Interview line: I did not run Meridian because the data does not support a production MMM yet. I designed exactly where it would plug in once real spend and outcomes exist.</a:t>
            </a:r>
          </a:p>
        </p:txBody>
      </p:sp>
    </p:spTree>
    <p:extLst>
      <p:ext uri="{BB962C8B-B14F-4D97-AF65-F5344CB8AC3E}">
        <p14:creationId xmlns:p14="http://schemas.microsoft.com/office/powerpoint/2010/main" val="8535477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2026-08-05T17:37:51.4630000Z</dcterms:created>
  <dcterms:modified xsi:type="dcterms:W3CDTF">2026-08-05T17:37:51.4630000Z</dcterms:modified>
</coreProperties>
</file>